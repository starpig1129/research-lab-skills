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WEEKLY RESEARCH PROGRESS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Automated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Short-Answer Scoring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Fairness-Aware ESAS for Mandarin-Medium Secondary Education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ZI-YUE,CHAO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2026-05-25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· Weekly Progress ·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960"/>
            <a:ext cx="60960" cy="6797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81200"/>
            <a:ext cx="10160000" cy="30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6000" y="3657600"/>
            <a:ext cx="10160000" cy="30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2000" cy="10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Background &amp; Research Question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· Weekly Progress ·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711200"/>
            <a:ext cx="10972800" cy="2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914400"/>
            <a:ext cx="5181600" cy="52832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8FAFC"/>
                </a:solidFill>
              </a:rPr>
              <a:t>English ESAS systems (QWK~0.85) cannot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transfer to zh-TW without significant bias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Discourse markers, sentence-length norms,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and rubric anchors differ structurally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across languages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English models introduce systematic DIF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at score boundaries (6 / 12 levels flagged)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914400"/>
            <a:ext cx="5181600" cy="447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137920"/>
            <a:ext cx="5181600" cy="2235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3A5F"/>
                </a:solidFill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894080" y="1666240"/>
            <a:ext cx="60960" cy="60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4080" y="2255520"/>
            <a:ext cx="60960" cy="60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4080" y="3108960"/>
            <a:ext cx="60960" cy="60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914400"/>
            <a:ext cx="5181600" cy="528320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0FDF4"/>
                </a:solidFill>
              </a:rPr>
              <a:t>Phase 1: GPT-4 zero-shot baseline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QWK=0.674 — upper-bound without training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Phase 2: BERT fine-tuned per-prompt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+ rubric prefix → QWK=0.836 (EN)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Phase 3: Cross-lingual evaluation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ZH-BERT-FT: QWK=0.811, 0 DIF flags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914400"/>
            <a:ext cx="5181600" cy="447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137920"/>
            <a:ext cx="5181600" cy="2235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59669"/>
                </a:solidFill>
              </a:rPr>
              <a:t>Our Approach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85280" y="1666240"/>
            <a:ext cx="60960" cy="60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85280" y="2316480"/>
            <a:ext cx="60960" cy="60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85280" y="2966720"/>
            <a:ext cx="60960" cy="60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2000" cy="10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Experiment Timeline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2026-05-10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2026-05-18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2026-05-25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follows: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follows: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· Weekly Progress ·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711200"/>
            <a:ext cx="10972800" cy="2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625600" y="3454400"/>
            <a:ext cx="9144000" cy="0"/>
          </a:xfrm>
          <a:prstGeom prst="line">
            <a:avLst/>
          </a:prstGeom>
          <a:ln w="381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2458720" y="3271520"/>
            <a:ext cx="365760" cy="36576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4748B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625600" y="3810000"/>
            <a:ext cx="2032000" cy="8128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1F5F9"/>
                </a:solidFill>
              </a:rPr>
              <a:t>GPT-4 Baseline</a:t>
            </a:r>
          </a:p>
          <a:p>
            <a:pPr algn="ctr"/>
            <a:r>
              <a:rPr sz="1400">
                <a:solidFill>
                  <a:srgbClr val="F1F5F9"/>
                </a:solidFill>
              </a:rPr>
              <a:t>Zero-shot (Quick mode)</a:t>
            </a:r>
          </a:p>
          <a:p>
            <a:pPr algn="ctr"/>
            <a:r>
              <a:rPr sz="1400">
                <a:solidFill>
                  <a:srgbClr val="F1F5F9"/>
                </a:solidFill>
              </a:rPr>
              <a:t>QWK = 0.674</a:t>
            </a:r>
          </a:p>
        </p:txBody>
      </p:sp>
      <p:sp>
        <p:nvSpPr>
          <p:cNvPr id="8" name="Oval 7"/>
          <p:cNvSpPr/>
          <p:nvPr/>
        </p:nvSpPr>
        <p:spPr>
          <a:xfrm>
            <a:off x="5913120" y="3271520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D97706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7040" y="2133600"/>
            <a:ext cx="1137920" cy="2438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EF3C7"/>
                </a:solidFill>
              </a:rPr>
              <a:t>amended 2026-05-20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69840" y="3810000"/>
            <a:ext cx="2052320" cy="81280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BEB"/>
                </a:solidFill>
              </a:rPr>
              <a:t>BERT Fine-tuned</a:t>
            </a:r>
          </a:p>
          <a:p>
            <a:pPr algn="ctr"/>
            <a:r>
              <a:rPr sz="1400">
                <a:solidFill>
                  <a:srgbClr val="FFFBEB"/>
                </a:solidFill>
              </a:rPr>
              <a:t>Per-prompt + rubric prefix</a:t>
            </a:r>
          </a:p>
          <a:p>
            <a:pPr algn="ctr"/>
            <a:r>
              <a:rPr sz="1400">
                <a:solidFill>
                  <a:srgbClr val="FFFBEB"/>
                </a:solidFill>
              </a:rPr>
              <a:t>QWK = 0.836</a:t>
            </a:r>
          </a:p>
        </p:txBody>
      </p:sp>
      <p:sp>
        <p:nvSpPr>
          <p:cNvPr id="11" name="Oval 10"/>
          <p:cNvSpPr/>
          <p:nvPr/>
        </p:nvSpPr>
        <p:spPr>
          <a:xfrm>
            <a:off x="9570720" y="3271520"/>
            <a:ext cx="365760" cy="3657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59669"/>
                </a:solidFill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40800" y="1778000"/>
            <a:ext cx="1625600" cy="24384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DCFCE7"/>
                </a:solidFill>
              </a:rPr>
              <a:t>amended ×2 (05-27, 05-29)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27440" y="3810000"/>
            <a:ext cx="2052320" cy="8128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0FDF4"/>
                </a:solidFill>
              </a:rPr>
              <a:t>Cross-Lingual Eval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ZH-BERT-FT · 0 DIF flags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zh-TW QWK = 0.811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24480" y="3454400"/>
            <a:ext cx="3088640" cy="1"/>
          </a:xfrm>
          <a:custGeom>
            <a:avLst/>
            <a:gdLst/>
            <a:ahLst/>
            <a:cxnLst/>
            <a:rect l="0" t="0" r="r" b="b"/>
            <a:pathLst>
              <a:path w="3088640" h="1">
                <a:moveTo>
                  <a:pt x="0" y="0"/>
                </a:moveTo>
                <a:lnTo>
                  <a:pt x="3088640" y="0"/>
                </a:lnTo>
              </a:path>
            </a:pathLst>
          </a:custGeom>
          <a:noFill/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880" y="3454400"/>
            <a:ext cx="3291840" cy="1"/>
          </a:xfrm>
          <a:custGeom>
            <a:avLst/>
            <a:gdLst/>
            <a:ahLst/>
            <a:cxnLst/>
            <a:rect l="0" t="0" r="r" b="b"/>
            <a:pathLst>
              <a:path w="3291840" h="1">
                <a:moveTo>
                  <a:pt x="0" y="0"/>
                </a:moveTo>
                <a:lnTo>
                  <a:pt x="3291840" y="0"/>
                </a:lnTo>
              </a:path>
            </a:pathLst>
          </a:custGeom>
          <a:noFill/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92000" cy="10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Cross-Lingual QWK — EN vs zh-TW by Model Strategy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0.2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0.4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0.6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0.8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1.0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0.853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0.541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EN-BERT-ZS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(zero-shot)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0.831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0.784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mBERT-FT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(translated)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0.828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0.811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ZH-BERT-FT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(language-matched)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English QWK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zh-TW QWK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Prompts P1–P4 · test set · macro-average QWK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· Weekly Progress ·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711200"/>
            <a:ext cx="10972800" cy="2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14400" y="5689600"/>
            <a:ext cx="10261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4754880"/>
            <a:ext cx="10261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14400" y="3820160"/>
            <a:ext cx="10261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14400" y="2885440"/>
            <a:ext cx="10261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1950720"/>
            <a:ext cx="10261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1016000"/>
            <a:ext cx="10261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544320" y="1706880"/>
            <a:ext cx="558800" cy="3982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84400" y="3159760"/>
            <a:ext cx="558800" cy="2529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93920" y="1808480"/>
            <a:ext cx="558800" cy="3881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34000" y="2021840"/>
            <a:ext cx="558800" cy="3667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43520" y="1818640"/>
            <a:ext cx="558800" cy="387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83600" y="1899920"/>
            <a:ext cx="558800" cy="3789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41920" y="934720"/>
            <a:ext cx="1168400" cy="22352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DCFCE7"/>
                </a:solidFill>
              </a:rPr>
              <a:t>✓ Best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48800" y="1320800"/>
            <a:ext cx="162560" cy="162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48800" y="1584960"/>
            <a:ext cx="162560" cy="1625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2000" cy="10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Model Comparison — Key Metrics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QWK = Quadratic Weighted Kappa · DIF = Differential Item Functioning (Mantel-Haenszel, p&lt;.05)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— = English-only model; cross-lingual transfer not evaluated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High bias (≥ 4 flags)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Moderate bias (1–3 flags)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No bias (0 flags)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· Weekly Progress ·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711200"/>
            <a:ext cx="10972800" cy="2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914400"/>
            <a:ext cx="10972800" cy="386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137920"/>
            <a:ext cx="10972800" cy="162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3A5F"/>
                </a:solidFill>
              </a:rPr>
              <a:t>Model</a:t>
            </a:r>
          </a:p>
          <a:p>
            <a:pPr algn="ctr"/>
            <a:r>
              <a:rPr sz="1400">
                <a:solidFill>
                  <a:srgbClr val="1E3A5F"/>
                </a:solidFill>
              </a:rPr>
              <a:t>EN QWK</a:t>
            </a:r>
          </a:p>
          <a:p>
            <a:pPr algn="ctr"/>
            <a:r>
              <a:rPr sz="1400">
                <a:solidFill>
                  <a:srgbClr val="1E3A5F"/>
                </a:solidFill>
              </a:rPr>
              <a:t>zh-TW QWK</a:t>
            </a:r>
          </a:p>
          <a:p>
            <a:pPr algn="ctr"/>
            <a:r>
              <a:rPr sz="1400">
                <a:solidFill>
                  <a:srgbClr val="1E3A5F"/>
                </a:solidFill>
              </a:rPr>
              <a:t>Δ Drop</a:t>
            </a:r>
          </a:p>
          <a:p>
            <a:pPr algn="ctr"/>
            <a:r>
              <a:rPr sz="1400">
                <a:solidFill>
                  <a:srgbClr val="1E3A5F"/>
                </a:solidFill>
              </a:rPr>
              <a:t>DIF Flags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67200" y="914400"/>
            <a:ext cx="0" cy="386080"/>
          </a:xfrm>
          <a:prstGeom prst="line">
            <a:avLst/>
          </a:prstGeom>
          <a:ln w="12700">
            <a:solidFill>
              <a:srgbClr val="2D5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283200" y="914400"/>
            <a:ext cx="0" cy="386080"/>
          </a:xfrm>
          <a:prstGeom prst="line">
            <a:avLst/>
          </a:prstGeom>
          <a:ln w="12700">
            <a:solidFill>
              <a:srgbClr val="2D5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914400"/>
            <a:ext cx="0" cy="386080"/>
          </a:xfrm>
          <a:prstGeom prst="line">
            <a:avLst/>
          </a:prstGeom>
          <a:ln w="12700">
            <a:solidFill>
              <a:srgbClr val="2D5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20000" y="914400"/>
            <a:ext cx="0" cy="386080"/>
          </a:xfrm>
          <a:prstGeom prst="line">
            <a:avLst/>
          </a:prstGeom>
          <a:ln w="12700">
            <a:solidFill>
              <a:srgbClr val="2D5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09600" y="1300480"/>
            <a:ext cx="1097280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8FAFC"/>
                </a:solidFill>
              </a:rPr>
              <a:t>GPT-4 zero-shot (baseline)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0.671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—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—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—</a:t>
            </a:r>
          </a:p>
        </p:txBody>
      </p:sp>
      <p:cxnSp>
        <p:nvCxnSpPr>
          <p:cNvPr id="12" name="Connector 11"/>
          <p:cNvCxnSpPr>
            <a:stCxn id="11" idx="6"/>
            <a:endCxn id="11" idx="4"/>
          </p:cNvCxnSpPr>
          <p:nvPr/>
        </p:nvCxnSpPr>
        <p:spPr>
          <a:xfrm>
            <a:off x="609600" y="1849120"/>
            <a:ext cx="109728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9600" y="1849120"/>
            <a:ext cx="109728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BERT cross-prompt + rubric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0.819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—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—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—</a:t>
            </a:r>
          </a:p>
        </p:txBody>
      </p:sp>
      <p:cxnSp>
        <p:nvCxnSpPr>
          <p:cNvPr id="14" name="Connector 13"/>
          <p:cNvCxnSpPr>
            <a:stCxn id="13" idx="6"/>
            <a:endCxn id="13" idx="4"/>
          </p:cNvCxnSpPr>
          <p:nvPr/>
        </p:nvCxnSpPr>
        <p:spPr>
          <a:xfrm>
            <a:off x="609600" y="2397760"/>
            <a:ext cx="109728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09600" y="2397760"/>
            <a:ext cx="1097280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8FAFC"/>
                </a:solidFill>
              </a:rPr>
              <a:t>BERT per-prompt + rubric (EN)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0.836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—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—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—</a:t>
            </a:r>
          </a:p>
        </p:txBody>
      </p:sp>
      <p:cxnSp>
        <p:nvCxnSpPr>
          <p:cNvPr id="16" name="Connector 15"/>
          <p:cNvCxnSpPr>
            <a:stCxn id="15" idx="6"/>
            <a:endCxn id="15" idx="4"/>
          </p:cNvCxnSpPr>
          <p:nvPr/>
        </p:nvCxnSpPr>
        <p:spPr>
          <a:xfrm>
            <a:off x="609600" y="2946400"/>
            <a:ext cx="109728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09600" y="2946400"/>
            <a:ext cx="109728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EN-BERT-ZS transfer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0.853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0.541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−0.312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1920" y="3098800"/>
            <a:ext cx="812800" cy="2438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EE2E2"/>
                </a:solidFill>
              </a:rPr>
              <a:t>6 / 12</a:t>
            </a:r>
          </a:p>
        </p:txBody>
      </p:sp>
      <p:cxnSp>
        <p:nvCxnSpPr>
          <p:cNvPr id="19" name="Connector 18"/>
          <p:cNvCxnSpPr>
            <a:stCxn id="17" idx="6"/>
            <a:endCxn id="17" idx="4"/>
          </p:cNvCxnSpPr>
          <p:nvPr/>
        </p:nvCxnSpPr>
        <p:spPr>
          <a:xfrm>
            <a:off x="609600" y="3495040"/>
            <a:ext cx="109728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495040"/>
            <a:ext cx="1097280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8FAFC"/>
                </a:solidFill>
              </a:rPr>
              <a:t>mBERT-FT (translated)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0.831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0.784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−0.047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1920" y="3647440"/>
            <a:ext cx="812800" cy="2438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EF3C7"/>
                </a:solidFill>
              </a:rPr>
              <a:t>2 / 12</a:t>
            </a:r>
          </a:p>
        </p:txBody>
      </p:sp>
      <p:cxnSp>
        <p:nvCxnSpPr>
          <p:cNvPr id="22" name="Connector 21"/>
          <p:cNvCxnSpPr>
            <a:stCxn id="20" idx="6"/>
            <a:endCxn id="20" idx="4"/>
          </p:cNvCxnSpPr>
          <p:nvPr/>
        </p:nvCxnSpPr>
        <p:spPr>
          <a:xfrm>
            <a:off x="609600" y="4043680"/>
            <a:ext cx="109728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9600" y="4043680"/>
            <a:ext cx="10972800" cy="6096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0FDF4"/>
                </a:solidFill>
              </a:rPr>
              <a:t>ZH-BERT-FT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0.828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0.811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−0.017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14880" y="4246880"/>
            <a:ext cx="914400" cy="2032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DCFCE7"/>
                </a:solidFill>
              </a:rPr>
              <a:t>✓ Best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1920" y="4257040"/>
            <a:ext cx="812800" cy="24384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DCFCE7"/>
                </a:solidFill>
              </a:rPr>
              <a:t>0 / 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653280"/>
            <a:ext cx="10972800" cy="2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267200" y="1300480"/>
            <a:ext cx="0" cy="335280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83200" y="1300480"/>
            <a:ext cx="0" cy="335280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400800" y="1300480"/>
            <a:ext cx="0" cy="335280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20000" y="1300480"/>
            <a:ext cx="0" cy="335280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09600" y="5384800"/>
            <a:ext cx="121920" cy="121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35200" y="5384800"/>
            <a:ext cx="121920" cy="12192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5600" y="5384800"/>
            <a:ext cx="121920" cy="12192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92000" cy="10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Key Results — ZH-BERT-FT Best Model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· Weekly Progress ·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711200"/>
            <a:ext cx="10972800" cy="2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016000"/>
            <a:ext cx="2560320" cy="2844800"/>
          </a:xfrm>
          <a:prstGeom prst="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0FDF4"/>
                </a:solidFill>
              </a:rPr>
              <a:t>zh-TW QWK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0.811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+0.270 vs. zero-shot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ZH-BERT-FT · test set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macro-avg P1–P4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parity with human EN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016000"/>
            <a:ext cx="2560320" cy="60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056640"/>
            <a:ext cx="2560320" cy="20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873760" y="2621280"/>
            <a:ext cx="2032000" cy="0"/>
          </a:xfrm>
          <a:prstGeom prst="line">
            <a:avLst/>
          </a:prstGeom>
          <a:ln w="12700">
            <a:solidFill>
              <a:srgbClr val="BBF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271520" y="1016000"/>
            <a:ext cx="2560320" cy="2844800"/>
          </a:xfrm>
          <a:prstGeom prst="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0FDF4"/>
                </a:solidFill>
              </a:rPr>
              <a:t>EN↔zh-TW Gap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−0.017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within annotation noise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EN-ZS gap was −0.312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18× improvement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cross-lingual parity achieved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1520" y="1016000"/>
            <a:ext cx="2560320" cy="60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71520" y="1056640"/>
            <a:ext cx="2560320" cy="20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535680" y="2621280"/>
            <a:ext cx="2032000" cy="0"/>
          </a:xfrm>
          <a:prstGeom prst="line">
            <a:avLst/>
          </a:prstGeom>
          <a:ln w="12700">
            <a:solidFill>
              <a:srgbClr val="BBF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933440" y="1016000"/>
            <a:ext cx="2560320" cy="2844800"/>
          </a:xfrm>
          <a:prstGeom prst="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0FDF4"/>
                </a:solidFill>
              </a:rPr>
              <a:t>DIF Flags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0 / 12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EN-ZS had 6 / 12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Mantel-Haenszel, p&lt;.05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score levels 1–12 tested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no systematic bias detected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3440" y="1016000"/>
            <a:ext cx="2560320" cy="60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33440" y="1056640"/>
            <a:ext cx="2560320" cy="20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197600" y="2621280"/>
            <a:ext cx="2032000" cy="0"/>
          </a:xfrm>
          <a:prstGeom prst="line">
            <a:avLst/>
          </a:prstGeom>
          <a:ln w="12700">
            <a:solidFill>
              <a:srgbClr val="BBF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595360" y="1016000"/>
            <a:ext cx="2560320" cy="2844800"/>
          </a:xfrm>
          <a:prstGeom prst="rect">
            <a:avLst/>
          </a:prstGeom>
          <a:solidFill>
            <a:srgbClr val="FFFBEB"/>
          </a:solidFill>
          <a:ln w="254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BEB"/>
                </a:solidFill>
              </a:rPr>
              <a:t>Annotation κ</a:t>
            </a:r>
          </a:p>
          <a:p>
            <a:pPr algn="ctr"/>
            <a:r>
              <a:rPr sz="1400">
                <a:solidFill>
                  <a:srgbClr val="FFFBEB"/>
                </a:solidFill>
              </a:rPr>
              <a:t>0.84</a:t>
            </a:r>
          </a:p>
          <a:p>
            <a:pPr algn="ctr"/>
            <a:r>
              <a:rPr sz="1400">
                <a:solidFill>
                  <a:srgbClr val="FFFBEB"/>
                </a:solidFill>
              </a:rPr>
              <a:t>P5–P8 pending budget</a:t>
            </a:r>
          </a:p>
          <a:p>
            <a:pPr algn="ctr"/>
            <a:r>
              <a:rPr sz="1400">
                <a:solidFill>
                  <a:srgbClr val="FFFBEB"/>
                </a:solidFill>
              </a:rPr>
              <a:t>P1–P4 only (current)</a:t>
            </a:r>
          </a:p>
          <a:p>
            <a:pPr algn="ctr"/>
            <a:r>
              <a:rPr sz="1400">
                <a:solidFill>
                  <a:srgbClr val="FFFBEB"/>
                </a:solidFill>
              </a:rPr>
              <a:t>target: 2026-06-10</a:t>
            </a:r>
          </a:p>
          <a:p>
            <a:pPr algn="ctr"/>
            <a:r>
              <a:rPr sz="1400">
                <a:solidFill>
                  <a:srgbClr val="FFFBEB"/>
                </a:solidFill>
              </a:rPr>
              <a:t>Cohen's κ, 2 annotators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1016000"/>
            <a:ext cx="2560320" cy="609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95360" y="1056640"/>
            <a:ext cx="2560320" cy="2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45600" y="1137920"/>
            <a:ext cx="751840" cy="20320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EF3C7"/>
                </a:solidFill>
              </a:rPr>
              <a:t>⏳ Pending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59520" y="2621280"/>
            <a:ext cx="2032000" cy="0"/>
          </a:xfrm>
          <a:prstGeom prst="line">
            <a:avLst/>
          </a:prstGeom>
          <a:ln w="12700">
            <a:solidFill>
              <a:srgbClr val="FDE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09600" y="4267200"/>
            <a:ext cx="10972800" cy="56896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0FDF4"/>
                </a:solidFill>
              </a:rPr>
              <a:t>ZH-BERT-FT achieves human-parity cross-lingual scoring with zero fairness violations</a:t>
            </a:r>
          </a:p>
          <a:p>
            <a:pPr algn="ctr"/>
            <a:r>
              <a:rPr sz="1400">
                <a:solidFill>
                  <a:srgbClr val="F0FDF4"/>
                </a:solidFill>
              </a:rPr>
              <a:t>Language-matched fine-tuning + rubric-prefix conditioning is the winning recipe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2000" cy="10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Conclusion &amp; Next Steps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· Weekly Progress ·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711200"/>
            <a:ext cx="10972800" cy="2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914400"/>
            <a:ext cx="5384800" cy="47752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8FAFC"/>
                </a:solidFill>
              </a:rPr>
              <a:t>Language-matched fine-tuning achieves parity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ZH-BERT-FT: QWK=0.811, 0 DIF flags — parity with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English scoring, zero systematic bias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Zero-shot transfer is both inaccurate and unfair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EN-BERT-ZS: QWK=0.541 and 6/12 score levels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flagged — unacceptable for deployment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Rubric-prefix is highest-value intervention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+2.2pp for argumentation-heavy prompts —</a:t>
            </a:r>
          </a:p>
          <a:p>
            <a:pPr algn="ctr"/>
            <a:r>
              <a:rPr sz="1400">
                <a:solidFill>
                  <a:srgbClr val="F8FAFC"/>
                </a:solidFill>
              </a:rPr>
              <a:t>low cost, high impact, prompt-agnostic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914400"/>
            <a:ext cx="5384800" cy="447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137920"/>
            <a:ext cx="5384800" cy="2235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3A5F"/>
                </a:solidFill>
              </a:rPr>
              <a:t>Conclusions</a:t>
            </a:r>
          </a:p>
        </p:txBody>
      </p:sp>
      <p:sp>
        <p:nvSpPr>
          <p:cNvPr id="8" name="Oval 7"/>
          <p:cNvSpPr/>
          <p:nvPr/>
        </p:nvSpPr>
        <p:spPr>
          <a:xfrm>
            <a:off x="812800" y="1686560"/>
            <a:ext cx="284480" cy="2844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59669"/>
                </a:solidFill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812800" y="2550160"/>
            <a:ext cx="284480" cy="2844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DC2626"/>
                </a:solidFill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812800" y="3413760"/>
            <a:ext cx="284480" cy="2844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D97706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7600" y="914400"/>
            <a:ext cx="5384800" cy="477520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7600" y="914400"/>
            <a:ext cx="5384800" cy="447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7600" y="1137920"/>
            <a:ext cx="5384800" cy="2235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59669"/>
                </a:solidFill>
              </a:rPr>
              <a:t>Next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1440" y="1605280"/>
            <a:ext cx="489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Complete P5–P8 zh-TW annotation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Budget approval pending · target: 2026-06-10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~400 additional zh-TW essays to label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1440" y="1605280"/>
            <a:ext cx="60960" cy="7315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1440" y="2540000"/>
            <a:ext cx="489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Contrastive-pair augmentation for P2/P7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Score-boundary confusion at levels 5→6, 9→10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Expected +1.5pp QWK on boundary-heavy prompts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1440" y="2540000"/>
            <a:ext cx="60960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1440" y="3474720"/>
            <a:ext cx="489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Begin paper draft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Fairness-aware cross-lingual ESAS framework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Target venue: ACL 2027 · deadline: 2026-09-15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1440" y="3474720"/>
            <a:ext cx="60960" cy="7315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5872480"/>
            <a:ext cx="10972800" cy="4673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3A5F"/>
                </a:solidFill>
              </a:rPr>
              <a:t>Thank you — Questions Welcome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2000" cy="10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Fig. 1  —  ZH-BERT-FT System Architecture for Cross-Lingual ESAS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(a) Input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(b) Tokenisation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(c) Encoder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(d) Scoring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(e) Output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+2.2 pp QWK on argumentation prompts (P2, P7)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vs. no rubric-prefix conditioning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Note.  Transformer weights initialised from bert-base-chinese; one model trained per prompt (P1–P8); rubric text prepended at tokenisation stage via [SEP] token.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 ·  Weekly Progress  · 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48768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8000" y="741680"/>
            <a:ext cx="1930400" cy="48768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zh-TW Student Essay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270000"/>
            <a:ext cx="1930400" cy="48768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Rubric Prompt (P1–P8)</a:t>
            </a:r>
          </a:p>
        </p:txBody>
      </p:sp>
      <p:sp>
        <p:nvSpPr>
          <p:cNvPr id="7" name="Rectangle 6"/>
          <p:cNvSpPr/>
          <p:nvPr/>
        </p:nvSpPr>
        <p:spPr>
          <a:xfrm>
            <a:off x="2661920" y="741680"/>
            <a:ext cx="16256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bert-base-chinese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Tokenizer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[CLS] · [SEP]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max-seq = 256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11040" y="741680"/>
            <a:ext cx="24892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Transformer Encoder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12 layers × 768 hidden dim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bert-base-chinese (pre-trained)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[CLS] token → final hidden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741680"/>
            <a:ext cx="17272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Regression Head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Dense (768→1)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QWK loss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soft-label regression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74480" y="741680"/>
            <a:ext cx="22352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Score ŷ ∈ [0, 3]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Per-prompt model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(P1–P8 independently)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QWK (zh-TW) = 0.811</a:t>
            </a:r>
          </a:p>
        </p:txBody>
      </p:sp>
      <p:cxnSp>
        <p:nvCxnSpPr>
          <p:cNvPr id="11" name="Connector 10"/>
          <p:cNvCxnSpPr>
            <a:stCxn id="5" idx="4"/>
            <a:endCxn id="7" idx="7"/>
          </p:cNvCxnSpPr>
          <p:nvPr/>
        </p:nvCxnSpPr>
        <p:spPr>
          <a:xfrm>
            <a:off x="243840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7" idx="3"/>
            <a:endCxn id="8" idx="7"/>
          </p:cNvCxnSpPr>
          <p:nvPr/>
        </p:nvCxnSpPr>
        <p:spPr>
          <a:xfrm>
            <a:off x="428752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8" idx="3"/>
            <a:endCxn id="9" idx="7"/>
          </p:cNvCxnSpPr>
          <p:nvPr/>
        </p:nvCxnSpPr>
        <p:spPr>
          <a:xfrm>
            <a:off x="700024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9" idx="3"/>
            <a:endCxn id="10" idx="7"/>
          </p:cNvCxnSpPr>
          <p:nvPr/>
        </p:nvCxnSpPr>
        <p:spPr>
          <a:xfrm>
            <a:off x="895096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661920" y="2032000"/>
            <a:ext cx="1625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[SEP] concatenation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rubric text prepended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before student essay</a:t>
            </a:r>
          </a:p>
        </p:txBody>
      </p:sp>
      <p:cxnSp>
        <p:nvCxnSpPr>
          <p:cNvPr id="16" name="Connector 15"/>
          <p:cNvCxnSpPr>
            <a:stCxn id="15" idx="1"/>
            <a:endCxn id="7" idx="5"/>
          </p:cNvCxnSpPr>
          <p:nvPr/>
        </p:nvCxnSpPr>
        <p:spPr>
          <a:xfrm flipV="1">
            <a:off x="3474720" y="1778000"/>
            <a:ext cx="0" cy="254000"/>
          </a:xfrm>
          <a:prstGeom prst="line">
            <a:avLst/>
          </a:prstGeom>
          <a:ln w="1270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38400" y="1513840"/>
            <a:ext cx="142240" cy="0"/>
          </a:xfrm>
          <a:prstGeom prst="line">
            <a:avLst/>
          </a:prstGeom>
          <a:ln w="12700">
            <a:solidFill>
              <a:srgbClr val="B0B8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80640" y="1513840"/>
            <a:ext cx="0" cy="873760"/>
          </a:xfrm>
          <a:prstGeom prst="line">
            <a:avLst/>
          </a:prstGeom>
          <a:ln w="12700">
            <a:solidFill>
              <a:srgbClr val="B0B8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80640" y="2387600"/>
            <a:ext cx="81280" cy="0"/>
          </a:xfrm>
          <a:prstGeom prst="line">
            <a:avLst/>
          </a:prstGeom>
          <a:ln w="12700">
            <a:solidFill>
              <a:srgbClr val="B0B8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8000" y="2997200"/>
            <a:ext cx="3352800" cy="89408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Evaluation — QWK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EN: 0.828   zh-TW: 0.811   Gap: −0.017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test set · prompts P1–P4 · macro-avg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gap within annotation noise level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3–5 random seeds per prompt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0" y="2997200"/>
            <a:ext cx="3352800" cy="89408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Fairness — DIF (Mantel-Haenszel)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ZH-BERT-FT: 0/12   EN-BERT-ZS: 6/12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12 score levels · p &lt; .05 threshold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EN vs. zh-TW group comparison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Zero systematic bias detected 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0" y="2997200"/>
            <a:ext cx="4064000" cy="89408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Training Configuration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LR = 2×10⁻⁵  ·  batch = 16  ·  epochs = 10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max-seq = 256  ·  QWK loss (soft labels)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60/20/20 train/val/test split (per prompt)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early stopping on validation QWK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4084320"/>
            <a:ext cx="3332480" cy="8331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Phase 1: EN-BERT Zero-Shot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QWK (zh-TW) = 0.541  ·  DIF: 6/12 flags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Insufficient — substantial bias detected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May 10, 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4084320"/>
            <a:ext cx="60960" cy="833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4000" y="4084320"/>
            <a:ext cx="3332480" cy="8331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Phase 2: mBERT + MT Translation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QWK (zh-TW) = 0.784  ·  DIF: 2/12 flags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Partial — residual bias on 2 levels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May 18,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0" y="4084320"/>
            <a:ext cx="60960" cy="833120"/>
          </a:xfrm>
          <a:prstGeom prst="rect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20000" y="4084320"/>
            <a:ext cx="4064000" cy="833120"/>
          </a:xfrm>
          <a:prstGeom prst="rect">
            <a:avLst/>
          </a:prstGeom>
          <a:solidFill>
            <a:srgbClr val="F2F3F4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Phase 3: ZH-BERT Language-Matched  ★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QWK (zh-TW) = 0.811  ·  DIF: 0/12 flags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Production candidate — zero bias detected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May 25,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0" y="4084320"/>
            <a:ext cx="60960" cy="833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</a:rPr>
              <a:t>Fig. 2  —  Model Development and Evaluation Protocol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zh-TW QWK ≥ 0.80?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Yes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No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(adjust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hyper-params)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DIF flags = 0?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Yes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No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(augment /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re-design)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Note.  Dashed lines connect each node to its decision criteria (right column).  Loop-back iterations adjust training hyperparameters or data augmentation strategy.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Cross-Lingual ESAS  ·  Weekly Progress  ·  2026-05-25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48768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624320" y="568960"/>
            <a:ext cx="0" cy="569976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51200" y="609600"/>
            <a:ext cx="2032000" cy="447040"/>
          </a:xfrm>
          <a:prstGeom prst="rect">
            <a:avLst/>
          </a:prstGeom>
          <a:solidFill>
            <a:srgbClr val="1F618D"/>
          </a:solidFill>
          <a:ln w="19050">
            <a:solidFill>
              <a:srgbClr val="1F6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618D"/>
                </a:solidFill>
              </a:rPr>
              <a:t>Model Development Flow</a:t>
            </a:r>
          </a:p>
          <a:p>
            <a:pPr algn="ctr"/>
            <a:r>
              <a:rPr sz="1400">
                <a:solidFill>
                  <a:srgbClr val="1F618D"/>
                </a:solidFill>
              </a:rPr>
              <a:t>START</a:t>
            </a:r>
          </a:p>
        </p:txBody>
      </p:sp>
      <p:cxnSp>
        <p:nvCxnSpPr>
          <p:cNvPr id="7" name="Connector 6"/>
          <p:cNvCxnSpPr>
            <a:stCxn id="6" idx="5"/>
            <a:endCxn id="8" idx="1"/>
          </p:cNvCxnSpPr>
          <p:nvPr/>
        </p:nvCxnSpPr>
        <p:spPr>
          <a:xfrm>
            <a:off x="4267200" y="1056640"/>
            <a:ext cx="0" cy="31496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048000" y="1381760"/>
            <a:ext cx="2438400" cy="5283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Data Preparation &amp;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Model Configuration</a:t>
            </a:r>
          </a:p>
        </p:txBody>
      </p:sp>
      <p:cxnSp>
        <p:nvCxnSpPr>
          <p:cNvPr id="9" name="Connector 8"/>
          <p:cNvCxnSpPr>
            <a:stCxn id="8" idx="5"/>
            <a:endCxn id="10" idx="1"/>
          </p:cNvCxnSpPr>
          <p:nvPr/>
        </p:nvCxnSpPr>
        <p:spPr>
          <a:xfrm>
            <a:off x="4267200" y="1910080"/>
            <a:ext cx="0" cy="31496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48000" y="2235200"/>
            <a:ext cx="2438400" cy="5283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Fine-Tune ZH-BERT-FT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(per-prompt, epochs = 10)</a:t>
            </a:r>
          </a:p>
        </p:txBody>
      </p:sp>
      <p:cxnSp>
        <p:nvCxnSpPr>
          <p:cNvPr id="11" name="Connector 10"/>
          <p:cNvCxnSpPr>
            <a:stCxn id="10" idx="5"/>
          </p:cNvCxnSpPr>
          <p:nvPr/>
        </p:nvCxnSpPr>
        <p:spPr>
          <a:xfrm>
            <a:off x="4267200" y="2763520"/>
            <a:ext cx="0" cy="27432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946400" y="3037840"/>
            <a:ext cx="2641600" cy="609600"/>
          </a:xfrm>
          <a:custGeom>
            <a:avLst/>
            <a:gdLst/>
            <a:ahLst/>
            <a:cxnLst/>
            <a:rect l="0" t="0" r="r" b="b"/>
            <a:pathLst>
              <a:path w="2641600" h="609600">
                <a:moveTo>
                  <a:pt x="1320800" y="0"/>
                </a:moveTo>
                <a:lnTo>
                  <a:pt x="2641600" y="304800"/>
                </a:lnTo>
                <a:lnTo>
                  <a:pt x="1320800" y="6096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67200" y="3647440"/>
            <a:ext cx="0" cy="274320"/>
          </a:xfrm>
          <a:prstGeom prst="line">
            <a:avLst/>
          </a:prstGeom>
          <a:ln w="15875">
            <a:solidFill>
              <a:srgbClr val="1E8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336800" y="3342640"/>
            <a:ext cx="60960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6800" y="2499360"/>
            <a:ext cx="0" cy="84328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endCxn id="10" idx="7"/>
          </p:cNvCxnSpPr>
          <p:nvPr/>
        </p:nvCxnSpPr>
        <p:spPr>
          <a:xfrm>
            <a:off x="2336800" y="2499360"/>
            <a:ext cx="70104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946400" y="3921760"/>
            <a:ext cx="2641600" cy="609600"/>
          </a:xfrm>
          <a:custGeom>
            <a:avLst/>
            <a:gdLst/>
            <a:ahLst/>
            <a:cxnLst/>
            <a:rect l="0" t="0" r="r" b="b"/>
            <a:pathLst>
              <a:path w="2641600" h="609600">
                <a:moveTo>
                  <a:pt x="1320800" y="0"/>
                </a:moveTo>
                <a:lnTo>
                  <a:pt x="2641600" y="304800"/>
                </a:lnTo>
                <a:lnTo>
                  <a:pt x="1320800" y="6096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>
            <a:endCxn id="22" idx="1"/>
          </p:cNvCxnSpPr>
          <p:nvPr/>
        </p:nvCxnSpPr>
        <p:spPr>
          <a:xfrm>
            <a:off x="4267200" y="4531360"/>
            <a:ext cx="0" cy="274320"/>
          </a:xfrm>
          <a:prstGeom prst="line">
            <a:avLst/>
          </a:prstGeom>
          <a:ln w="15875">
            <a:solidFill>
              <a:srgbClr val="1E8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88000" y="4226560"/>
            <a:ext cx="65024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238240" y="2499360"/>
            <a:ext cx="0" cy="172720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endCxn id="10" idx="3"/>
          </p:cNvCxnSpPr>
          <p:nvPr/>
        </p:nvCxnSpPr>
        <p:spPr>
          <a:xfrm flipH="1">
            <a:off x="5496560" y="2499360"/>
            <a:ext cx="74168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48000" y="4815840"/>
            <a:ext cx="2438400" cy="5283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Full Test-Set Evaluation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(QWK + DIF report)</a:t>
            </a:r>
          </a:p>
        </p:txBody>
      </p:sp>
      <p:cxnSp>
        <p:nvCxnSpPr>
          <p:cNvPr id="23" name="Connector 22"/>
          <p:cNvCxnSpPr>
            <a:stCxn id="22" idx="5"/>
            <a:endCxn id="24" idx="1"/>
          </p:cNvCxnSpPr>
          <p:nvPr/>
        </p:nvCxnSpPr>
        <p:spPr>
          <a:xfrm>
            <a:off x="4267200" y="5344160"/>
            <a:ext cx="0" cy="314960"/>
          </a:xfrm>
          <a:prstGeom prst="line">
            <a:avLst/>
          </a:prstGeom>
          <a:ln w="15875">
            <a:solidFill>
              <a:srgbClr val="1E8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51200" y="5669280"/>
            <a:ext cx="2032000" cy="447040"/>
          </a:xfrm>
          <a:prstGeom prst="rect">
            <a:avLst/>
          </a:prstGeom>
          <a:solidFill>
            <a:srgbClr val="1E8449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8449"/>
                </a:solidFill>
              </a:rPr>
              <a:t>Model Accepted</a:t>
            </a:r>
          </a:p>
          <a:p>
            <a:pPr algn="ctr"/>
            <a:r>
              <a:rPr sz="1400">
                <a:solidFill>
                  <a:srgbClr val="1E8449"/>
                </a:solidFill>
              </a:rPr>
              <a:t>for Deployment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7200" y="629920"/>
            <a:ext cx="4876800" cy="40640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Evaluation Criteria and Results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Input: zh-TW student essays (P1–P4)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Annotated scores: integer range 0–3 per prompt</a:t>
            </a:r>
          </a:p>
        </p:txBody>
      </p:sp>
      <p:cxnSp>
        <p:nvCxnSpPr>
          <p:cNvPr id="26" name="Connector 25"/>
          <p:cNvCxnSpPr>
            <a:stCxn id="6" idx="3"/>
            <a:endCxn id="25" idx="7"/>
          </p:cNvCxnSpPr>
          <p:nvPr/>
        </p:nvCxnSpPr>
        <p:spPr>
          <a:xfrm>
            <a:off x="5283200" y="833120"/>
            <a:ext cx="15036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07200" y="1402080"/>
            <a:ext cx="4876800" cy="52832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Split: 60/20/20 train/val/test (per prompt)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Model: bert-base-chinese · LR = 2×10⁻⁵ · batch = 16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Rubric-prefix conditioning applied</a:t>
            </a:r>
          </a:p>
        </p:txBody>
      </p:sp>
      <p:cxnSp>
        <p:nvCxnSpPr>
          <p:cNvPr id="28" name="Connector 27"/>
          <p:cNvCxnSpPr>
            <a:stCxn id="8" idx="3"/>
            <a:endCxn id="27" idx="7"/>
          </p:cNvCxnSpPr>
          <p:nvPr/>
        </p:nvCxnSpPr>
        <p:spPr>
          <a:xfrm>
            <a:off x="5486400" y="1645920"/>
            <a:ext cx="13004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807200" y="2255520"/>
            <a:ext cx="4876800" cy="52832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Separate model trained per prompt (P1–P8)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QWK loss · soft-label regression · max-seq = 256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Early stopping on validation QWK plateau</a:t>
            </a:r>
          </a:p>
        </p:txBody>
      </p:sp>
      <p:cxnSp>
        <p:nvCxnSpPr>
          <p:cNvPr id="30" name="Connector 29"/>
          <p:cNvCxnSpPr>
            <a:stCxn id="10" idx="3"/>
            <a:endCxn id="29" idx="7"/>
          </p:cNvCxnSpPr>
          <p:nvPr/>
        </p:nvCxnSpPr>
        <p:spPr>
          <a:xfrm>
            <a:off x="5486400" y="2499360"/>
            <a:ext cx="13004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07200" y="3098800"/>
            <a:ext cx="487680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Threshold: QWK ≥ 0.80 (publication-grade for ESAS)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Final result: zh-TW QWK = 0.811 ≥ 0.80 ✓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Evaluated on held-out test set (20%)</a:t>
            </a:r>
          </a:p>
        </p:txBody>
      </p:sp>
      <p:cxnSp>
        <p:nvCxnSpPr>
          <p:cNvPr id="32" name="Connector 31"/>
          <p:cNvCxnSpPr>
            <a:endCxn id="31" idx="7"/>
          </p:cNvCxnSpPr>
          <p:nvPr/>
        </p:nvCxnSpPr>
        <p:spPr>
          <a:xfrm>
            <a:off x="5588000" y="3342640"/>
            <a:ext cx="11988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07200" y="3962400"/>
            <a:ext cx="487680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Mantel-Haenszel test · p &lt; .05 threshold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12 score levels · EN vs. zh-TW comparison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Final result: 0/12 DIF flags ✓</a:t>
            </a:r>
          </a:p>
        </p:txBody>
      </p:sp>
      <p:cxnSp>
        <p:nvCxnSpPr>
          <p:cNvPr id="34" name="Connector 33"/>
          <p:cNvCxnSpPr>
            <a:endCxn id="33" idx="7"/>
          </p:cNvCxnSpPr>
          <p:nvPr/>
        </p:nvCxnSpPr>
        <p:spPr>
          <a:xfrm>
            <a:off x="5588000" y="4226560"/>
            <a:ext cx="11988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807200" y="4836160"/>
            <a:ext cx="487680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Final: zh-TW QWK = 0.811 · EN = 0.828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EN↔zh-TW gap = −0.017 (noise level)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0/12 DIF flags  ·  Annotation κ = 0.84 ✓</a:t>
            </a:r>
          </a:p>
        </p:txBody>
      </p:sp>
      <p:cxnSp>
        <p:nvCxnSpPr>
          <p:cNvPr id="36" name="Connector 35"/>
          <p:cNvCxnSpPr>
            <a:stCxn id="22" idx="3"/>
            <a:endCxn id="35" idx="7"/>
          </p:cNvCxnSpPr>
          <p:nvPr/>
        </p:nvCxnSpPr>
        <p:spPr>
          <a:xfrm>
            <a:off x="5486400" y="5080000"/>
            <a:ext cx="13004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807200" y="5689600"/>
            <a:ext cx="4876800" cy="426720"/>
          </a:xfrm>
          <a:prstGeom prst="rect">
            <a:avLst/>
          </a:prstGeom>
          <a:solidFill>
            <a:srgbClr val="F2F3F4"/>
          </a:solidFill>
          <a:ln w="9525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2F3F4"/>
                </a:solidFill>
              </a:rPr>
              <a:t>ZH-BERT-FT: selected as production candidate</a:t>
            </a:r>
          </a:p>
          <a:p>
            <a:pPr algn="ctr"/>
            <a:r>
              <a:rPr sz="1400">
                <a:solidFill>
                  <a:srgbClr val="F2F3F4"/>
                </a:solidFill>
              </a:rPr>
              <a:t>P5–P8 annotation ongoing (budget constraint)</a:t>
            </a:r>
          </a:p>
        </p:txBody>
      </p:sp>
      <p:cxnSp>
        <p:nvCxnSpPr>
          <p:cNvPr id="38" name="Connector 37"/>
          <p:cNvCxnSpPr>
            <a:stCxn id="24" idx="3"/>
            <a:endCxn id="37" idx="7"/>
          </p:cNvCxnSpPr>
          <p:nvPr/>
        </p:nvCxnSpPr>
        <p:spPr>
          <a:xfrm>
            <a:off x="5283200" y="5892800"/>
            <a:ext cx="15036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