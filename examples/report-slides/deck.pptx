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1F61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19200" y="1930400"/>
            <a:ext cx="50800" cy="2133600"/>
          </a:xfrm>
          <a:prstGeom prst="rect">
            <a:avLst/>
          </a:prstGeom>
          <a:solidFill>
            <a:srgbClr val="1F61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1442720" y="3779520"/>
            <a:ext cx="7091680" cy="0"/>
          </a:xfrm>
          <a:prstGeom prst="line">
            <a:avLst/>
          </a:prstGeom>
          <a:ln w="25400">
            <a:solidFill>
              <a:srgbClr val="D5DB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0" y="6583680"/>
            <a:ext cx="12192000" cy="0"/>
          </a:xfrm>
          <a:prstGeom prst="line">
            <a:avLst/>
          </a:prstGeom>
          <a:ln w="12700">
            <a:solidFill>
              <a:srgbClr val="D5DB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442720" y="2184400"/>
            <a:ext cx="2145792" cy="1584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200">
                <a:solidFill>
                  <a:srgbClr val="7F8C8D"/>
                </a:solidFill>
                <a:latin typeface="Helvetica"/>
              </a:rPr>
              <a:t>WEEKLY RESEARCH PROGRESS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42720" y="2611120"/>
            <a:ext cx="6927088" cy="58115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4400" b="1">
                <a:solidFill>
                  <a:srgbClr val="1F618D"/>
                </a:solidFill>
                <a:latin typeface="Helvetica"/>
              </a:rPr>
              <a:t>Cross-Lingual Automated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42720" y="3200400"/>
            <a:ext cx="6055360" cy="58115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4400" b="1">
                <a:solidFill>
                  <a:srgbClr val="1F618D"/>
                </a:solidFill>
                <a:latin typeface="Helvetica"/>
              </a:rPr>
              <a:t>Short-Answer Scoring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2720" y="4025900"/>
            <a:ext cx="8426196" cy="27736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2100">
                <a:solidFill>
                  <a:srgbClr val="2C3E50"/>
                </a:solidFill>
                <a:latin typeface="Helvetica"/>
              </a:rPr>
              <a:t>Fairness-Aware ESAS for Mandarin-Medium Secondary Education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42720" y="4516120"/>
            <a:ext cx="1670304" cy="23774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800">
                <a:solidFill>
                  <a:srgbClr val="7F8C8D"/>
                </a:solidFill>
                <a:latin typeface="Helvetica"/>
              </a:rPr>
              <a:t>ZI-YUE, CHAO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11600" y="4516120"/>
            <a:ext cx="362712" cy="23774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800">
                <a:solidFill>
                  <a:srgbClr val="D5DBDB"/>
                </a:solidFill>
                <a:latin typeface="Helvetica"/>
              </a:rPr>
              <a:t>|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4516120"/>
            <a:ext cx="1432560" cy="23774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800">
                <a:solidFill>
                  <a:srgbClr val="7F8C8D"/>
                </a:solidFill>
                <a:latin typeface="Helvetica"/>
              </a:rPr>
              <a:t>2026-05-25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42720" y="4813300"/>
            <a:ext cx="4701540" cy="1981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500">
                <a:solidFill>
                  <a:srgbClr val="7F8C8D"/>
                </a:solidFill>
                <a:latin typeface="Helvetica"/>
              </a:rPr>
              <a:t>Lab Meeting  ·  Phase 3 Cross-Lingual Results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74008" y="6644640"/>
            <a:ext cx="4443984" cy="1584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200">
                <a:solidFill>
                  <a:srgbClr val="7F8C8D"/>
                </a:solidFill>
                <a:latin typeface="Helvetica"/>
              </a:rPr>
              <a:t>Cross-Lingual ESAS  ·  Weekly Progress  ·  2026-05-25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1F61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609600" y="660400"/>
            <a:ext cx="10972800" cy="0"/>
          </a:xfrm>
          <a:prstGeom prst="line">
            <a:avLst/>
          </a:prstGeom>
          <a:ln w="19050">
            <a:solidFill>
              <a:srgbClr val="D5DB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609600" y="833120"/>
            <a:ext cx="5181600" cy="5181600"/>
          </a:xfrm>
          <a:custGeom>
            <a:avLst/>
            <a:gdLst/>
            <a:ahLst/>
            <a:cxnLst/>
            <a:rect l="0" t="0" r="r" b="b"/>
            <a:pathLst>
              <a:path w="5181600" h="5181600">
                <a:moveTo>
                  <a:pt x="60960" y="0"/>
                </a:moveTo>
                <a:lnTo>
                  <a:pt x="5120640" y="0"/>
                </a:lnTo>
                <a:cubicBezTo>
                  <a:pt x="5154307" y="0"/>
                  <a:pt x="5181600" y="27293"/>
                  <a:pt x="5181600" y="60960"/>
                </a:cubicBezTo>
                <a:lnTo>
                  <a:pt x="5181600" y="5120640"/>
                </a:lnTo>
                <a:cubicBezTo>
                  <a:pt x="5181600" y="5154307"/>
                  <a:pt x="5154307" y="5181600"/>
                  <a:pt x="5120640" y="5181600"/>
                </a:cubicBezTo>
                <a:lnTo>
                  <a:pt x="60960" y="5181600"/>
                </a:lnTo>
                <a:cubicBezTo>
                  <a:pt x="27293" y="5181600"/>
                  <a:pt x="0" y="5154307"/>
                  <a:pt x="0" y="5120640"/>
                </a:cubicBezTo>
                <a:lnTo>
                  <a:pt x="0" y="60960"/>
                </a:lnTo>
                <a:cubicBezTo>
                  <a:pt x="0" y="27293"/>
                  <a:pt x="27293" y="0"/>
                  <a:pt x="60960" y="0"/>
                </a:cubicBezTo>
                <a:close/>
              </a:path>
            </a:pathLst>
          </a:custGeom>
          <a:solidFill>
            <a:srgbClr val="F2F3F4"/>
          </a:solidFill>
          <a:ln w="1905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600" y="833120"/>
            <a:ext cx="5181600" cy="426720"/>
          </a:xfrm>
          <a:prstGeom prst="rect">
            <a:avLst/>
          </a:prstGeom>
          <a:solidFill>
            <a:srgbClr val="1F61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046480"/>
            <a:ext cx="5181600" cy="213360"/>
          </a:xfrm>
          <a:prstGeom prst="rect">
            <a:avLst/>
          </a:prstGeom>
          <a:solidFill>
            <a:srgbClr val="1F61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3440" y="1595120"/>
            <a:ext cx="71120" cy="711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53440" y="2286000"/>
            <a:ext cx="71120" cy="711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3440" y="2976880"/>
            <a:ext cx="71120" cy="711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2480" y="3860800"/>
            <a:ext cx="4815840" cy="914400"/>
          </a:xfrm>
          <a:custGeom>
            <a:avLst/>
            <a:gdLst/>
            <a:ahLst/>
            <a:cxnLst/>
            <a:rect l="0" t="0" r="r" b="b"/>
            <a:pathLst>
              <a:path w="4815840" h="914400">
                <a:moveTo>
                  <a:pt x="40640" y="0"/>
                </a:moveTo>
                <a:lnTo>
                  <a:pt x="4775200" y="0"/>
                </a:lnTo>
                <a:cubicBezTo>
                  <a:pt x="4797645" y="0"/>
                  <a:pt x="4815840" y="18195"/>
                  <a:pt x="4815840" y="40640"/>
                </a:cubicBezTo>
                <a:lnTo>
                  <a:pt x="4815840" y="873760"/>
                </a:lnTo>
                <a:cubicBezTo>
                  <a:pt x="4815840" y="896205"/>
                  <a:pt x="4797645" y="914400"/>
                  <a:pt x="4775200" y="914400"/>
                </a:cubicBezTo>
                <a:lnTo>
                  <a:pt x="40640" y="914400"/>
                </a:lnTo>
                <a:cubicBezTo>
                  <a:pt x="18195" y="914400"/>
                  <a:pt x="0" y="896205"/>
                  <a:pt x="0" y="873760"/>
                </a:cubicBezTo>
                <a:lnTo>
                  <a:pt x="0" y="40640"/>
                </a:lnTo>
                <a:cubicBezTo>
                  <a:pt x="0" y="18195"/>
                  <a:pt x="18195" y="0"/>
                  <a:pt x="40640" y="0"/>
                </a:cubicBezTo>
                <a:close/>
              </a:path>
            </a:pathLst>
          </a:custGeom>
          <a:solidFill>
            <a:srgbClr val="EAF1FB"/>
          </a:solidFill>
          <a:ln w="19050">
            <a:solidFill>
              <a:srgbClr val="1F61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833120"/>
            <a:ext cx="5181600" cy="5181600"/>
          </a:xfrm>
          <a:custGeom>
            <a:avLst/>
            <a:gdLst/>
            <a:ahLst/>
            <a:cxnLst/>
            <a:rect l="0" t="0" r="r" b="b"/>
            <a:pathLst>
              <a:path w="5181600" h="5181600">
                <a:moveTo>
                  <a:pt x="60960" y="0"/>
                </a:moveTo>
                <a:lnTo>
                  <a:pt x="5120640" y="0"/>
                </a:lnTo>
                <a:cubicBezTo>
                  <a:pt x="5154307" y="0"/>
                  <a:pt x="5181600" y="27293"/>
                  <a:pt x="5181600" y="60960"/>
                </a:cubicBezTo>
                <a:lnTo>
                  <a:pt x="5181600" y="5120640"/>
                </a:lnTo>
                <a:cubicBezTo>
                  <a:pt x="5181600" y="5154307"/>
                  <a:pt x="5154307" y="5181600"/>
                  <a:pt x="5120640" y="5181600"/>
                </a:cubicBezTo>
                <a:lnTo>
                  <a:pt x="60960" y="5181600"/>
                </a:lnTo>
                <a:cubicBezTo>
                  <a:pt x="27293" y="5181600"/>
                  <a:pt x="0" y="5154307"/>
                  <a:pt x="0" y="5120640"/>
                </a:cubicBezTo>
                <a:lnTo>
                  <a:pt x="0" y="60960"/>
                </a:lnTo>
                <a:cubicBezTo>
                  <a:pt x="0" y="27293"/>
                  <a:pt x="27293" y="0"/>
                  <a:pt x="60960" y="0"/>
                </a:cubicBezTo>
                <a:close/>
              </a:path>
            </a:pathLst>
          </a:custGeom>
          <a:solidFill>
            <a:srgbClr val="EAFAF1"/>
          </a:solidFill>
          <a:ln w="19050">
            <a:solidFill>
              <a:srgbClr val="A9D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833120"/>
            <a:ext cx="5181600" cy="426720"/>
          </a:xfrm>
          <a:prstGeom prst="rect">
            <a:avLst/>
          </a:prstGeom>
          <a:solidFill>
            <a:srgbClr val="1E8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1046480"/>
            <a:ext cx="5181600" cy="213360"/>
          </a:xfrm>
          <a:prstGeom prst="rect">
            <a:avLst/>
          </a:prstGeom>
          <a:solidFill>
            <a:srgbClr val="1E8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44640" y="1595120"/>
            <a:ext cx="71120" cy="71120"/>
          </a:xfrm>
          <a:prstGeom prst="rect">
            <a:avLst/>
          </a:prstGeom>
          <a:solidFill>
            <a:srgbClr val="1E8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644640" y="2286000"/>
            <a:ext cx="71120" cy="71120"/>
          </a:xfrm>
          <a:prstGeom prst="rect">
            <a:avLst/>
          </a:prstGeom>
          <a:solidFill>
            <a:srgbClr val="1E8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644640" y="2976880"/>
            <a:ext cx="71120" cy="71120"/>
          </a:xfrm>
          <a:prstGeom prst="rect">
            <a:avLst/>
          </a:prstGeom>
          <a:solidFill>
            <a:srgbClr val="1E8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0" y="3860800"/>
            <a:ext cx="4815840" cy="914400"/>
          </a:xfrm>
          <a:custGeom>
            <a:avLst/>
            <a:gdLst/>
            <a:ahLst/>
            <a:cxnLst/>
            <a:rect l="0" t="0" r="r" b="b"/>
            <a:pathLst>
              <a:path w="4815840" h="914400">
                <a:moveTo>
                  <a:pt x="40640" y="0"/>
                </a:moveTo>
                <a:lnTo>
                  <a:pt x="4775200" y="0"/>
                </a:lnTo>
                <a:cubicBezTo>
                  <a:pt x="4797645" y="0"/>
                  <a:pt x="4815840" y="18195"/>
                  <a:pt x="4815840" y="40640"/>
                </a:cubicBezTo>
                <a:lnTo>
                  <a:pt x="4815840" y="873760"/>
                </a:lnTo>
                <a:cubicBezTo>
                  <a:pt x="4815840" y="896205"/>
                  <a:pt x="4797645" y="914400"/>
                  <a:pt x="4775200" y="914400"/>
                </a:cubicBezTo>
                <a:lnTo>
                  <a:pt x="40640" y="914400"/>
                </a:lnTo>
                <a:cubicBezTo>
                  <a:pt x="18195" y="914400"/>
                  <a:pt x="0" y="896205"/>
                  <a:pt x="0" y="873760"/>
                </a:cubicBezTo>
                <a:lnTo>
                  <a:pt x="0" y="40640"/>
                </a:lnTo>
                <a:cubicBezTo>
                  <a:pt x="0" y="18195"/>
                  <a:pt x="18195" y="0"/>
                  <a:pt x="40640" y="0"/>
                </a:cubicBezTo>
                <a:close/>
              </a:path>
            </a:pathLst>
          </a:custGeom>
          <a:solidFill>
            <a:srgbClr val="D5F5E3"/>
          </a:solidFill>
          <a:ln w="19050">
            <a:solidFill>
              <a:srgbClr val="1E8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0" y="6583680"/>
            <a:ext cx="12192000" cy="0"/>
          </a:xfrm>
          <a:prstGeom prst="line">
            <a:avLst/>
          </a:prstGeom>
          <a:ln w="12700">
            <a:solidFill>
              <a:srgbClr val="D5DB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09600" y="330200"/>
            <a:ext cx="5394960" cy="34340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2600" b="1">
                <a:solidFill>
                  <a:srgbClr val="1F618D"/>
                </a:solidFill>
                <a:latin typeface="Helvetica"/>
              </a:rPr>
              <a:t>Background &amp; Research Question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97328" y="985520"/>
            <a:ext cx="1406144" cy="2113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600">
                <a:solidFill>
                  <a:srgbClr val="FFFFFF"/>
                </a:solidFill>
                <a:latin typeface="Helvetica"/>
              </a:rPr>
              <a:t>The Problem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6320" y="1546860"/>
            <a:ext cx="4510024" cy="4455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700">
                <a:solidFill>
                  <a:srgbClr val="2C3E50"/>
                </a:solidFill>
                <a:latin typeface="Helvetica"/>
              </a:rPr>
              <a:t>EN ESAS (QWK~0.85) cannot transfer to</a:t>
            </a:r>
          </a:p>
          <a:p>
            <a:pPr algn="l">
              <a:spcBef>
                <a:spcPts val="720"/>
              </a:spcBef>
            </a:pPr>
            <a:r>
              <a:rPr sz="1700">
                <a:solidFill>
                  <a:srgbClr val="2C3E50"/>
                </a:solidFill>
                <a:latin typeface="Helvetica"/>
              </a:rPr>
              <a:t>zh-TW without significant scoring bias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6320" y="2237740"/>
            <a:ext cx="4285488" cy="4455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700">
                <a:solidFill>
                  <a:srgbClr val="2C3E50"/>
                </a:solidFill>
                <a:latin typeface="Helvetica"/>
              </a:rPr>
              <a:t>Discourse markers and rubric anchors</a:t>
            </a:r>
          </a:p>
          <a:p>
            <a:pPr algn="l">
              <a:spcBef>
                <a:spcPts val="720"/>
              </a:spcBef>
            </a:pPr>
            <a:r>
              <a:rPr sz="1700">
                <a:solidFill>
                  <a:srgbClr val="2C3E50"/>
                </a:solidFill>
                <a:latin typeface="Helvetica"/>
              </a:rPr>
              <a:t>differ structurally across languages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6320" y="2928620"/>
            <a:ext cx="4510024" cy="4455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700">
                <a:solidFill>
                  <a:srgbClr val="2C3E50"/>
                </a:solidFill>
                <a:latin typeface="Helvetica"/>
              </a:rPr>
              <a:t>EN models introduce systematic DIF at</a:t>
            </a:r>
          </a:p>
          <a:p>
            <a:pPr algn="l">
              <a:spcBef>
                <a:spcPts val="720"/>
              </a:spcBef>
            </a:pPr>
            <a:r>
              <a:rPr sz="1700">
                <a:solidFill>
                  <a:srgbClr val="2C3E50"/>
                </a:solidFill>
                <a:latin typeface="Helvetica"/>
              </a:rPr>
              <a:t>score boundaries (6/12 levels flagged)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36470" y="4030980"/>
            <a:ext cx="1927860" cy="1981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500">
                <a:solidFill>
                  <a:srgbClr val="1F618D"/>
                </a:solidFill>
                <a:latin typeface="Helvetica"/>
              </a:rPr>
              <a:t>Research Question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44930" y="4284980"/>
            <a:ext cx="3710940" cy="1981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500">
                <a:solidFill>
                  <a:srgbClr val="2C3E50"/>
                </a:solidFill>
                <a:latin typeface="Helvetica"/>
              </a:rPr>
              <a:t>Can ZH-BERT achieve EN-parity while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160" y="4518660"/>
            <a:ext cx="4602480" cy="1981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500">
                <a:solidFill>
                  <a:srgbClr val="2C3E50"/>
                </a:solidFill>
                <a:latin typeface="Helvetica"/>
              </a:rPr>
              <a:t>maintaining rubric-level fairness (DIF = 0)?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35696" y="985520"/>
            <a:ext cx="1511808" cy="2113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600">
                <a:solidFill>
                  <a:srgbClr val="FFFFFF"/>
                </a:solidFill>
                <a:latin typeface="Helvetica"/>
              </a:rPr>
              <a:t>Our Approach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27520" y="1546860"/>
            <a:ext cx="3948684" cy="4455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700">
                <a:solidFill>
                  <a:srgbClr val="2C3E50"/>
                </a:solidFill>
                <a:latin typeface="Helvetica"/>
              </a:rPr>
              <a:t>Phase 1: GPT-4 zero-shot baseline</a:t>
            </a:r>
          </a:p>
          <a:p>
            <a:pPr algn="l">
              <a:spcBef>
                <a:spcPts val="720"/>
              </a:spcBef>
            </a:pPr>
            <a:r>
              <a:rPr sz="1700">
                <a:solidFill>
                  <a:srgbClr val="2C3E50"/>
                </a:solidFill>
                <a:latin typeface="Helvetica"/>
              </a:rPr>
              <a:t>QWK = 0.674 — EN upper-bound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27520" y="2237740"/>
            <a:ext cx="4173220" cy="4455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700">
                <a:solidFill>
                  <a:srgbClr val="2C3E50"/>
                </a:solidFill>
                <a:latin typeface="Helvetica"/>
              </a:rPr>
              <a:t>Phase 2: BERT fine-tuned per-prompt</a:t>
            </a:r>
          </a:p>
          <a:p>
            <a:pPr algn="l">
              <a:spcBef>
                <a:spcPts val="720"/>
              </a:spcBef>
            </a:pPr>
            <a:r>
              <a:rPr sz="1700">
                <a:solidFill>
                  <a:srgbClr val="2C3E50"/>
                </a:solidFill>
                <a:latin typeface="Helvetica"/>
              </a:rPr>
              <a:t>+ rubric prefix → QWK = 0.836 (EN)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27520" y="2928620"/>
            <a:ext cx="4285488" cy="4455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700">
                <a:solidFill>
                  <a:srgbClr val="2C3E50"/>
                </a:solidFill>
                <a:latin typeface="Helvetica"/>
              </a:rPr>
              <a:t>Phase 3: Cross-lingual evaluation</a:t>
            </a:r>
          </a:p>
          <a:p>
            <a:pPr algn="l">
              <a:spcBef>
                <a:spcPts val="720"/>
              </a:spcBef>
            </a:pPr>
            <a:r>
              <a:rPr sz="1700">
                <a:solidFill>
                  <a:srgbClr val="2C3E50"/>
                </a:solidFill>
                <a:latin typeface="Helvetica"/>
              </a:rPr>
              <a:t>ZH-BERT-FT: QWK = 0.811, 0 DIF flags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73440" y="4030980"/>
            <a:ext cx="1036320" cy="1981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500">
                <a:solidFill>
                  <a:srgbClr val="1E8449"/>
                </a:solidFill>
                <a:latin typeface="Helvetica"/>
              </a:rPr>
              <a:t>Achieved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89420" y="4284980"/>
            <a:ext cx="4404360" cy="1981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500">
                <a:solidFill>
                  <a:srgbClr val="2C3E50"/>
                </a:solidFill>
                <a:latin typeface="Helvetica"/>
              </a:rPr>
              <a:t>ZH QWK = 0.811  (EN = 0.828, gap = −0.017)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4720" y="4518660"/>
            <a:ext cx="3413760" cy="1981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500">
                <a:solidFill>
                  <a:srgbClr val="2C3E50"/>
                </a:solidFill>
                <a:latin typeface="Helvetica"/>
              </a:rPr>
              <a:t>DIF flags: 0 / 12 rubric items 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74008" y="6644640"/>
            <a:ext cx="4443984" cy="1584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200">
                <a:solidFill>
                  <a:srgbClr val="7F8C8D"/>
                </a:solidFill>
                <a:latin typeface="Helvetica"/>
              </a:rPr>
              <a:t>Cross-Lingual ESAS  ·  Weekly Progress  ·  2026-05-25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1F61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609600" y="660400"/>
            <a:ext cx="10972800" cy="0"/>
          </a:xfrm>
          <a:prstGeom prst="line">
            <a:avLst/>
          </a:prstGeom>
          <a:ln w="19050">
            <a:solidFill>
              <a:srgbClr val="D5DB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524000" y="2997200"/>
            <a:ext cx="9245600" cy="0"/>
          </a:xfrm>
          <a:prstGeom prst="line">
            <a:avLst/>
          </a:prstGeom>
          <a:ln w="38100">
            <a:solidFill>
              <a:srgbClr val="D5DB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2214880" y="2773680"/>
            <a:ext cx="447040" cy="447040"/>
          </a:xfrm>
          <a:prstGeom prst="ellipse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20800" y="3403600"/>
            <a:ext cx="2235200" cy="965200"/>
          </a:xfrm>
          <a:custGeom>
            <a:avLst/>
            <a:gdLst/>
            <a:ahLst/>
            <a:cxnLst/>
            <a:rect l="0" t="0" r="r" b="b"/>
            <a:pathLst>
              <a:path w="2235200" h="965200">
                <a:moveTo>
                  <a:pt x="60960" y="0"/>
                </a:moveTo>
                <a:lnTo>
                  <a:pt x="2174240" y="0"/>
                </a:lnTo>
                <a:cubicBezTo>
                  <a:pt x="2207907" y="0"/>
                  <a:pt x="2235200" y="27293"/>
                  <a:pt x="2235200" y="60960"/>
                </a:cubicBezTo>
                <a:lnTo>
                  <a:pt x="2235200" y="904240"/>
                </a:lnTo>
                <a:cubicBezTo>
                  <a:pt x="2235200" y="937907"/>
                  <a:pt x="2207907" y="965200"/>
                  <a:pt x="2174240" y="965200"/>
                </a:cubicBezTo>
                <a:lnTo>
                  <a:pt x="60960" y="965200"/>
                </a:lnTo>
                <a:cubicBezTo>
                  <a:pt x="27293" y="965200"/>
                  <a:pt x="0" y="937907"/>
                  <a:pt x="0" y="904240"/>
                </a:cubicBezTo>
                <a:lnTo>
                  <a:pt x="0" y="60960"/>
                </a:lnTo>
                <a:cubicBezTo>
                  <a:pt x="0" y="27293"/>
                  <a:pt x="27293" y="0"/>
                  <a:pt x="60960" y="0"/>
                </a:cubicBezTo>
                <a:close/>
              </a:path>
            </a:pathLst>
          </a:custGeom>
          <a:solidFill>
            <a:srgbClr val="F2F3F4"/>
          </a:solidFill>
          <a:ln w="1905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872480" y="2773680"/>
            <a:ext cx="447040" cy="447040"/>
          </a:xfrm>
          <a:prstGeom prst="ellipse">
            <a:avLst/>
          </a:prstGeom>
          <a:solidFill>
            <a:srgbClr val="D68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05120" y="1676400"/>
            <a:ext cx="1381760" cy="264160"/>
          </a:xfrm>
          <a:prstGeom prst="rect">
            <a:avLst/>
          </a:prstGeom>
          <a:solidFill>
            <a:srgbClr val="FEF3C7"/>
          </a:solidFill>
          <a:ln w="12700">
            <a:solidFill>
              <a:srgbClr val="D689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978400" y="3403600"/>
            <a:ext cx="2235200" cy="965200"/>
          </a:xfrm>
          <a:custGeom>
            <a:avLst/>
            <a:gdLst/>
            <a:ahLst/>
            <a:cxnLst/>
            <a:rect l="0" t="0" r="r" b="b"/>
            <a:pathLst>
              <a:path w="2235200" h="965200">
                <a:moveTo>
                  <a:pt x="60960" y="0"/>
                </a:moveTo>
                <a:lnTo>
                  <a:pt x="2174240" y="0"/>
                </a:lnTo>
                <a:cubicBezTo>
                  <a:pt x="2207907" y="0"/>
                  <a:pt x="2235200" y="27293"/>
                  <a:pt x="2235200" y="60960"/>
                </a:cubicBezTo>
                <a:lnTo>
                  <a:pt x="2235200" y="904240"/>
                </a:lnTo>
                <a:cubicBezTo>
                  <a:pt x="2235200" y="937907"/>
                  <a:pt x="2207907" y="965200"/>
                  <a:pt x="2174240" y="965200"/>
                </a:cubicBezTo>
                <a:lnTo>
                  <a:pt x="60960" y="965200"/>
                </a:lnTo>
                <a:cubicBezTo>
                  <a:pt x="27293" y="965200"/>
                  <a:pt x="0" y="937907"/>
                  <a:pt x="0" y="904240"/>
                </a:cubicBezTo>
                <a:lnTo>
                  <a:pt x="0" y="60960"/>
                </a:lnTo>
                <a:cubicBezTo>
                  <a:pt x="0" y="27293"/>
                  <a:pt x="27293" y="0"/>
                  <a:pt x="60960" y="0"/>
                </a:cubicBezTo>
                <a:close/>
              </a:path>
            </a:pathLst>
          </a:custGeom>
          <a:solidFill>
            <a:srgbClr val="FFFBEB"/>
          </a:solidFill>
          <a:ln w="19050">
            <a:solidFill>
              <a:srgbClr val="F0CA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530080" y="2773680"/>
            <a:ext cx="447040" cy="447040"/>
          </a:xfrm>
          <a:prstGeom prst="ellipse">
            <a:avLst/>
          </a:prstGeom>
          <a:solidFill>
            <a:srgbClr val="1E8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920480" y="1422400"/>
            <a:ext cx="1666240" cy="264160"/>
          </a:xfrm>
          <a:prstGeom prst="rect">
            <a:avLst/>
          </a:prstGeom>
          <a:solidFill>
            <a:srgbClr val="D5F5E3"/>
          </a:solidFill>
          <a:ln w="12700">
            <a:solidFill>
              <a:srgbClr val="1E8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636000" y="3403600"/>
            <a:ext cx="2235200" cy="965200"/>
          </a:xfrm>
          <a:custGeom>
            <a:avLst/>
            <a:gdLst/>
            <a:ahLst/>
            <a:cxnLst/>
            <a:rect l="0" t="0" r="r" b="b"/>
            <a:pathLst>
              <a:path w="2235200" h="965200">
                <a:moveTo>
                  <a:pt x="60960" y="0"/>
                </a:moveTo>
                <a:lnTo>
                  <a:pt x="2174240" y="0"/>
                </a:lnTo>
                <a:cubicBezTo>
                  <a:pt x="2207907" y="0"/>
                  <a:pt x="2235200" y="27293"/>
                  <a:pt x="2235200" y="60960"/>
                </a:cubicBezTo>
                <a:lnTo>
                  <a:pt x="2235200" y="904240"/>
                </a:lnTo>
                <a:cubicBezTo>
                  <a:pt x="2235200" y="937907"/>
                  <a:pt x="2207907" y="965200"/>
                  <a:pt x="2174240" y="965200"/>
                </a:cubicBezTo>
                <a:lnTo>
                  <a:pt x="60960" y="965200"/>
                </a:lnTo>
                <a:cubicBezTo>
                  <a:pt x="27293" y="965200"/>
                  <a:pt x="0" y="937907"/>
                  <a:pt x="0" y="904240"/>
                </a:cubicBezTo>
                <a:lnTo>
                  <a:pt x="0" y="60960"/>
                </a:lnTo>
                <a:cubicBezTo>
                  <a:pt x="0" y="27293"/>
                  <a:pt x="27293" y="0"/>
                  <a:pt x="60960" y="0"/>
                </a:cubicBezTo>
                <a:close/>
              </a:path>
            </a:pathLst>
          </a:custGeom>
          <a:solidFill>
            <a:srgbClr val="EAFAF1"/>
          </a:solidFill>
          <a:ln w="19050">
            <a:solidFill>
              <a:srgbClr val="A9D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72080" y="2997200"/>
            <a:ext cx="3190240" cy="1"/>
          </a:xfrm>
          <a:custGeom>
            <a:avLst/>
            <a:gdLst/>
            <a:ahLst/>
            <a:cxnLst/>
            <a:rect l="0" t="0" r="r" b="b"/>
            <a:pathLst>
              <a:path w="3190240" h="1">
                <a:moveTo>
                  <a:pt x="0" y="0"/>
                </a:moveTo>
                <a:lnTo>
                  <a:pt x="3190240" y="0"/>
                </a:lnTo>
              </a:path>
            </a:pathLst>
          </a:custGeom>
          <a:noFill/>
          <a:ln w="2540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29680" y="2997200"/>
            <a:ext cx="3190240" cy="1"/>
          </a:xfrm>
          <a:custGeom>
            <a:avLst/>
            <a:gdLst/>
            <a:ahLst/>
            <a:cxnLst/>
            <a:rect l="0" t="0" r="r" b="b"/>
            <a:pathLst>
              <a:path w="3190240" h="1">
                <a:moveTo>
                  <a:pt x="0" y="0"/>
                </a:moveTo>
                <a:lnTo>
                  <a:pt x="3190240" y="0"/>
                </a:lnTo>
              </a:path>
            </a:pathLst>
          </a:custGeom>
          <a:noFill/>
          <a:ln w="2540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9600" y="4826000"/>
            <a:ext cx="10972800" cy="528320"/>
          </a:xfrm>
          <a:custGeom>
            <a:avLst/>
            <a:gdLst/>
            <a:ahLst/>
            <a:cxnLst/>
            <a:rect l="0" t="0" r="r" b="b"/>
            <a:pathLst>
              <a:path w="10972800" h="528320">
                <a:moveTo>
                  <a:pt x="50800" y="0"/>
                </a:moveTo>
                <a:lnTo>
                  <a:pt x="10922000" y="0"/>
                </a:lnTo>
                <a:cubicBezTo>
                  <a:pt x="10950056" y="0"/>
                  <a:pt x="10972800" y="22744"/>
                  <a:pt x="10972800" y="50800"/>
                </a:cubicBezTo>
                <a:lnTo>
                  <a:pt x="10972800" y="477520"/>
                </a:lnTo>
                <a:cubicBezTo>
                  <a:pt x="10972800" y="505576"/>
                  <a:pt x="10950056" y="528320"/>
                  <a:pt x="10922000" y="528320"/>
                </a:cubicBezTo>
                <a:lnTo>
                  <a:pt x="50800" y="528320"/>
                </a:lnTo>
                <a:cubicBezTo>
                  <a:pt x="22744" y="528320"/>
                  <a:pt x="0" y="505576"/>
                  <a:pt x="0" y="477520"/>
                </a:cubicBezTo>
                <a:lnTo>
                  <a:pt x="0" y="50800"/>
                </a:lnTo>
                <a:cubicBezTo>
                  <a:pt x="0" y="22744"/>
                  <a:pt x="22744" y="0"/>
                  <a:pt x="50800" y="0"/>
                </a:cubicBezTo>
                <a:close/>
              </a:path>
            </a:pathLst>
          </a:custGeom>
          <a:solidFill>
            <a:srgbClr val="EAF1FB"/>
          </a:solidFill>
          <a:ln w="12700">
            <a:solidFill>
              <a:srgbClr val="1F61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0" y="6583680"/>
            <a:ext cx="12192000" cy="0"/>
          </a:xfrm>
          <a:prstGeom prst="line">
            <a:avLst/>
          </a:prstGeom>
          <a:ln w="12700">
            <a:solidFill>
              <a:srgbClr val="D5DB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09600" y="330200"/>
            <a:ext cx="3506216" cy="34340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2600" b="1">
                <a:solidFill>
                  <a:srgbClr val="1F618D"/>
                </a:solidFill>
                <a:latin typeface="Helvetica"/>
              </a:rPr>
              <a:t>Experiment Timeline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63648" y="2946400"/>
            <a:ext cx="349504" cy="2113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1180" y="2506980"/>
            <a:ext cx="1234440" cy="1981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500">
                <a:solidFill>
                  <a:srgbClr val="7F8C8D"/>
                </a:solidFill>
                <a:latin typeface="Helvetica"/>
              </a:rPr>
              <a:t>2026-05-10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6832" y="3556000"/>
            <a:ext cx="1723136" cy="2113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600">
                <a:solidFill>
                  <a:srgbClr val="2C3E50"/>
                </a:solidFill>
                <a:latin typeface="Helvetica"/>
              </a:rPr>
              <a:t>GPT-4 Baseline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6820" y="3807460"/>
            <a:ext cx="2423160" cy="1981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500">
                <a:solidFill>
                  <a:srgbClr val="7F8C8D"/>
                </a:solidFill>
                <a:latin typeface="Helvetica"/>
              </a:rPr>
              <a:t>Zero-shot · Quick mode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62684" y="4069080"/>
            <a:ext cx="1551432" cy="23774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800" b="1">
                <a:solidFill>
                  <a:srgbClr val="7F8C8D"/>
                </a:solidFill>
                <a:latin typeface="Helvetica"/>
              </a:rPr>
              <a:t>QWK = 0.674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21248" y="2946400"/>
            <a:ext cx="349504" cy="2113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78780" y="2506980"/>
            <a:ext cx="1234440" cy="1981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500">
                <a:solidFill>
                  <a:srgbClr val="7F8C8D"/>
                </a:solidFill>
                <a:latin typeface="Helvetica"/>
              </a:rPr>
              <a:t>2026-05-18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01412" y="1750060"/>
            <a:ext cx="1789176" cy="17170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300">
                <a:solidFill>
                  <a:srgbClr val="D68910"/>
                </a:solidFill>
                <a:latin typeface="Helvetica"/>
              </a:rPr>
              <a:t>amended 2026-05-20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81600" y="3556000"/>
            <a:ext cx="1828800" cy="2113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600">
                <a:solidFill>
                  <a:srgbClr val="2C3E50"/>
                </a:solidFill>
                <a:latin typeface="Helvetica"/>
              </a:rPr>
              <a:t>BERT Fine-Tuned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86300" y="3807460"/>
            <a:ext cx="2819400" cy="1981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500">
                <a:solidFill>
                  <a:srgbClr val="7F8C8D"/>
                </a:solidFill>
                <a:latin typeface="Helvetica"/>
              </a:rPr>
              <a:t>Per-prompt + rubric prefix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20284" y="4069080"/>
            <a:ext cx="1551432" cy="23774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800" b="1">
                <a:solidFill>
                  <a:srgbClr val="D68910"/>
                </a:solidFill>
                <a:latin typeface="Helvetica"/>
              </a:rPr>
              <a:t>QWK = 0.836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78848" y="2946400"/>
            <a:ext cx="349504" cy="2113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Helvetica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36380" y="2506980"/>
            <a:ext cx="1234440" cy="1981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500">
                <a:solidFill>
                  <a:srgbClr val="7F8C8D"/>
                </a:solidFill>
                <a:latin typeface="Helvetica"/>
              </a:rPr>
              <a:t>2026-05-25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58530" y="1496060"/>
            <a:ext cx="2390140" cy="17170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300">
                <a:solidFill>
                  <a:srgbClr val="1E8449"/>
                </a:solidFill>
                <a:latin typeface="Helvetica"/>
              </a:rPr>
              <a:t>amended ×2 (05-27, 05-29)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0704" y="3556000"/>
            <a:ext cx="2145792" cy="2113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600">
                <a:solidFill>
                  <a:srgbClr val="2C3E50"/>
                </a:solidFill>
                <a:latin typeface="Helvetica"/>
              </a:rPr>
              <a:t>Cross-Lingual Eval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42960" y="3807460"/>
            <a:ext cx="2621280" cy="1981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500">
                <a:solidFill>
                  <a:srgbClr val="7F8C8D"/>
                </a:solidFill>
                <a:latin typeface="Helvetica"/>
              </a:rPr>
              <a:t>ZH-BERT-FT · 0 DIF flags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21268" y="4069080"/>
            <a:ext cx="2264664" cy="23774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800" b="1">
                <a:solidFill>
                  <a:srgbClr val="1E8449"/>
                </a:solidFill>
                <a:latin typeface="Helvetica"/>
              </a:rPr>
              <a:t>zh-TW QWK = 0.811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01872" y="2776220"/>
            <a:ext cx="930656" cy="17170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300">
                <a:solidFill>
                  <a:srgbClr val="B0B8C1"/>
                </a:solidFill>
                <a:latin typeface="Helvetica"/>
              </a:rPr>
              <a:t>follows: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59472" y="2776220"/>
            <a:ext cx="930656" cy="17170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300">
                <a:solidFill>
                  <a:srgbClr val="B0B8C1"/>
                </a:solidFill>
                <a:latin typeface="Helvetica"/>
              </a:rPr>
              <a:t>follows: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00352" y="4927600"/>
            <a:ext cx="8591296" cy="2113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600">
                <a:solidFill>
                  <a:srgbClr val="1F618D"/>
                </a:solidFill>
                <a:latin typeface="Helvetica"/>
              </a:rPr>
              <a:t>3-phase progression: GPT-4 baseline → BERT EN fine-tune → ZH-BERT cross-lingual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10740" y="5148580"/>
            <a:ext cx="7970520" cy="1981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500">
                <a:solidFill>
                  <a:srgbClr val="2C3E50"/>
                </a:solidFill>
                <a:latin typeface="Helvetica"/>
              </a:rPr>
              <a:t>QWK improved from 0.674 to 0.836 (EN), then extended to zh-TW with QWK = 0.811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74008" y="6644640"/>
            <a:ext cx="4443984" cy="1584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200">
                <a:solidFill>
                  <a:srgbClr val="7F8C8D"/>
                </a:solidFill>
                <a:latin typeface="Helvetica"/>
              </a:rPr>
              <a:t>Cross-Lingual ESAS  ·  Weekly Progress  ·  2026-05-25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1F61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609600" y="660400"/>
            <a:ext cx="10972800" cy="0"/>
          </a:xfrm>
          <a:prstGeom prst="line">
            <a:avLst/>
          </a:prstGeom>
          <a:ln w="19050">
            <a:solidFill>
              <a:srgbClr val="D5DB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16000" y="5384800"/>
            <a:ext cx="9347200" cy="0"/>
          </a:xfrm>
          <a:prstGeom prst="line">
            <a:avLst/>
          </a:prstGeom>
          <a:ln w="12700">
            <a:solidFill>
              <a:srgbClr val="D5DB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16000" y="4490720"/>
            <a:ext cx="9347200" cy="0"/>
          </a:xfrm>
          <a:prstGeom prst="line">
            <a:avLst/>
          </a:prstGeom>
          <a:ln w="9525">
            <a:solidFill>
              <a:srgbClr val="D5DB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16000" y="3596640"/>
            <a:ext cx="9347200" cy="0"/>
          </a:xfrm>
          <a:prstGeom prst="line">
            <a:avLst/>
          </a:prstGeom>
          <a:ln w="9525">
            <a:solidFill>
              <a:srgbClr val="D5DB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16000" y="2702560"/>
            <a:ext cx="9347200" cy="0"/>
          </a:xfrm>
          <a:prstGeom prst="line">
            <a:avLst/>
          </a:prstGeom>
          <a:ln w="9525">
            <a:solidFill>
              <a:srgbClr val="D5DB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16000" y="1808480"/>
            <a:ext cx="9347200" cy="0"/>
          </a:xfrm>
          <a:prstGeom prst="line">
            <a:avLst/>
          </a:prstGeom>
          <a:ln w="9525">
            <a:solidFill>
              <a:srgbClr val="D5DB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16000" y="914400"/>
            <a:ext cx="9347200" cy="0"/>
          </a:xfrm>
          <a:prstGeom prst="line">
            <a:avLst/>
          </a:prstGeom>
          <a:ln w="9525">
            <a:solidFill>
              <a:srgbClr val="D5DB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1656080" y="1574800"/>
            <a:ext cx="609600" cy="3810000"/>
          </a:xfrm>
          <a:prstGeom prst="rect">
            <a:avLst/>
          </a:prstGeom>
          <a:solidFill>
            <a:srgbClr val="1F61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46960" y="2966720"/>
            <a:ext cx="609600" cy="2418080"/>
          </a:xfrm>
          <a:prstGeom prst="rect">
            <a:avLst/>
          </a:prstGeom>
          <a:solidFill>
            <a:srgbClr val="1E8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04080" y="1666240"/>
            <a:ext cx="609600" cy="3718560"/>
          </a:xfrm>
          <a:prstGeom prst="rect">
            <a:avLst/>
          </a:prstGeom>
          <a:solidFill>
            <a:srgbClr val="1F61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394960" y="1879600"/>
            <a:ext cx="609600" cy="3505200"/>
          </a:xfrm>
          <a:prstGeom prst="rect">
            <a:avLst/>
          </a:prstGeom>
          <a:solidFill>
            <a:srgbClr val="1E8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52080" y="1686560"/>
            <a:ext cx="609600" cy="3698240"/>
          </a:xfrm>
          <a:prstGeom prst="rect">
            <a:avLst/>
          </a:prstGeom>
          <a:solidFill>
            <a:srgbClr val="1F61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42960" y="1757680"/>
            <a:ext cx="609600" cy="3627120"/>
          </a:xfrm>
          <a:prstGeom prst="rect">
            <a:avLst/>
          </a:prstGeom>
          <a:solidFill>
            <a:srgbClr val="1E8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50480" y="833120"/>
            <a:ext cx="1239520" cy="243840"/>
          </a:xfrm>
          <a:prstGeom prst="rect">
            <a:avLst/>
          </a:prstGeom>
          <a:solidFill>
            <a:srgbClr val="D5F5E3"/>
          </a:solidFill>
          <a:ln w="12700">
            <a:solidFill>
              <a:srgbClr val="1E8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550400" y="1168400"/>
            <a:ext cx="182880" cy="182880"/>
          </a:xfrm>
          <a:prstGeom prst="rect">
            <a:avLst/>
          </a:prstGeom>
          <a:solidFill>
            <a:srgbClr val="1F61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550400" y="1452880"/>
            <a:ext cx="182880" cy="182880"/>
          </a:xfrm>
          <a:prstGeom prst="rect">
            <a:avLst/>
          </a:prstGeom>
          <a:solidFill>
            <a:srgbClr val="1E8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0" y="6583680"/>
            <a:ext cx="12192000" cy="0"/>
          </a:xfrm>
          <a:prstGeom prst="line">
            <a:avLst/>
          </a:prstGeom>
          <a:ln w="12700">
            <a:solidFill>
              <a:srgbClr val="D5DB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09600" y="330200"/>
            <a:ext cx="8657336" cy="34340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2600" b="1">
                <a:solidFill>
                  <a:srgbClr val="1F618D"/>
                </a:solidFill>
                <a:latin typeface="Helvetica"/>
              </a:rPr>
              <a:t>Cross-Lingual QWK — EN vs zh-TW by Model Strategy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060" y="5311140"/>
            <a:ext cx="541020" cy="1981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r"/>
            <a:r>
              <a:rPr sz="1500">
                <a:solidFill>
                  <a:srgbClr val="7F8C8D"/>
                </a:solidFill>
                <a:latin typeface="Helvetica"/>
              </a:rPr>
              <a:t>0.0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3060" y="4417060"/>
            <a:ext cx="541020" cy="1981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r"/>
            <a:r>
              <a:rPr sz="1500">
                <a:solidFill>
                  <a:srgbClr val="7F8C8D"/>
                </a:solidFill>
                <a:latin typeface="Helvetica"/>
              </a:rPr>
              <a:t>0.2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060" y="3522980"/>
            <a:ext cx="541020" cy="1981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r"/>
            <a:r>
              <a:rPr sz="1500">
                <a:solidFill>
                  <a:srgbClr val="7F8C8D"/>
                </a:solidFill>
                <a:latin typeface="Helvetica"/>
              </a:rPr>
              <a:t>0.4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3060" y="2628900"/>
            <a:ext cx="541020" cy="1981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r"/>
            <a:r>
              <a:rPr sz="1500">
                <a:solidFill>
                  <a:srgbClr val="7F8C8D"/>
                </a:solidFill>
                <a:latin typeface="Helvetica"/>
              </a:rPr>
              <a:t>0.6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060" y="1734820"/>
            <a:ext cx="541020" cy="1981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r"/>
            <a:r>
              <a:rPr sz="1500">
                <a:solidFill>
                  <a:srgbClr val="7F8C8D"/>
                </a:solidFill>
                <a:latin typeface="Helvetica"/>
              </a:rPr>
              <a:t>0.8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3060" y="840740"/>
            <a:ext cx="541020" cy="1981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r"/>
            <a:r>
              <a:rPr sz="1500">
                <a:solidFill>
                  <a:srgbClr val="7F8C8D"/>
                </a:solidFill>
                <a:latin typeface="Helvetica"/>
              </a:rPr>
              <a:t>1.0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91310" y="1389380"/>
            <a:ext cx="739140" cy="1981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500">
                <a:solidFill>
                  <a:srgbClr val="1F618D"/>
                </a:solidFill>
                <a:latin typeface="Helvetica"/>
              </a:rPr>
              <a:t>0.853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82190" y="2771140"/>
            <a:ext cx="739140" cy="1981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500">
                <a:solidFill>
                  <a:srgbClr val="C0392B"/>
                </a:solidFill>
                <a:latin typeface="Helvetica"/>
              </a:rPr>
              <a:t>0.541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36700" y="5676900"/>
            <a:ext cx="1234440" cy="1981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500">
                <a:solidFill>
                  <a:srgbClr val="2C3E50"/>
                </a:solidFill>
                <a:latin typeface="Helvetica"/>
              </a:rPr>
              <a:t>EN-BERT-ZS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9814" y="5885180"/>
            <a:ext cx="1188212" cy="17170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300">
                <a:solidFill>
                  <a:srgbClr val="7F8C8D"/>
                </a:solidFill>
                <a:latin typeface="Helvetica"/>
              </a:rPr>
              <a:t>(zero-shot)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39310" y="1480820"/>
            <a:ext cx="739140" cy="1981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500">
                <a:solidFill>
                  <a:srgbClr val="1F618D"/>
                </a:solidFill>
                <a:latin typeface="Helvetica"/>
              </a:rPr>
              <a:t>0.831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30190" y="1694180"/>
            <a:ext cx="739140" cy="1981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500">
                <a:solidFill>
                  <a:srgbClr val="1E8449"/>
                </a:solidFill>
                <a:latin typeface="Helvetica"/>
              </a:rPr>
              <a:t>0.784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83760" y="5676900"/>
            <a:ext cx="1036320" cy="1981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500">
                <a:solidFill>
                  <a:srgbClr val="2C3E50"/>
                </a:solidFill>
                <a:latin typeface="Helvetica"/>
              </a:rPr>
              <a:t>mBERT-FT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64888" y="5885180"/>
            <a:ext cx="1274064" cy="17170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300">
                <a:solidFill>
                  <a:srgbClr val="7F8C8D"/>
                </a:solidFill>
                <a:latin typeface="Helvetica"/>
              </a:rPr>
              <a:t>(translated)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87310" y="1501140"/>
            <a:ext cx="739140" cy="1981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500">
                <a:solidFill>
                  <a:srgbClr val="1F618D"/>
                </a:solidFill>
                <a:latin typeface="Helvetica"/>
              </a:rPr>
              <a:t>0.828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78190" y="1572260"/>
            <a:ext cx="739140" cy="1981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500">
                <a:solidFill>
                  <a:srgbClr val="1E8449"/>
                </a:solidFill>
                <a:latin typeface="Helvetica"/>
              </a:rPr>
              <a:t>0.811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33208" y="896620"/>
            <a:ext cx="1274064" cy="17170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300">
                <a:solidFill>
                  <a:srgbClr val="1E8449"/>
                </a:solidFill>
                <a:latin typeface="Helvetica"/>
              </a:rPr>
              <a:t>✓ Best Model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32700" y="5676900"/>
            <a:ext cx="1234440" cy="1981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500">
                <a:solidFill>
                  <a:srgbClr val="2C3E50"/>
                </a:solidFill>
                <a:latin typeface="Helvetica"/>
              </a:rPr>
              <a:t>ZH-BERT-FT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55332" y="5885180"/>
            <a:ext cx="1789176" cy="17170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300">
                <a:solidFill>
                  <a:srgbClr val="7F8C8D"/>
                </a:solidFill>
                <a:latin typeface="Helvetica"/>
              </a:rPr>
              <a:t>(language-matched)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94240" y="1188720"/>
            <a:ext cx="1406144" cy="2113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600">
                <a:solidFill>
                  <a:srgbClr val="2C3E50"/>
                </a:solidFill>
                <a:latin typeface="Helvetica"/>
              </a:rPr>
              <a:t>English QWK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794240" y="1473200"/>
            <a:ext cx="1194816" cy="2113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600">
                <a:solidFill>
                  <a:srgbClr val="2C3E50"/>
                </a:solidFill>
                <a:latin typeface="Helvetica"/>
              </a:rPr>
              <a:t>zh-TW QWK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85336" y="6179820"/>
            <a:ext cx="4021328" cy="17170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300">
                <a:solidFill>
                  <a:srgbClr val="7F8C8D"/>
                </a:solidFill>
                <a:latin typeface="Helvetica"/>
              </a:rPr>
              <a:t>Prompts P1–P4 · test set · macro-average QWK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74008" y="6644640"/>
            <a:ext cx="4443984" cy="1584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200">
                <a:solidFill>
                  <a:srgbClr val="7F8C8D"/>
                </a:solidFill>
                <a:latin typeface="Helvetica"/>
              </a:rPr>
              <a:t>Cross-Lingual ESAS  ·  Weekly Progress  ·  2026-05-25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1F61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609600" y="660400"/>
            <a:ext cx="10972800" cy="0"/>
          </a:xfrm>
          <a:prstGeom prst="line">
            <a:avLst/>
          </a:prstGeom>
          <a:ln w="19050">
            <a:solidFill>
              <a:srgbClr val="D5DB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609600" y="833120"/>
            <a:ext cx="10972800" cy="508000"/>
          </a:xfrm>
          <a:custGeom>
            <a:avLst/>
            <a:gdLst/>
            <a:ahLst/>
            <a:cxnLst/>
            <a:rect l="0" t="0" r="r" b="b"/>
            <a:pathLst>
              <a:path w="10972800" h="508000">
                <a:moveTo>
                  <a:pt x="40640" y="0"/>
                </a:moveTo>
                <a:lnTo>
                  <a:pt x="10932160" y="0"/>
                </a:lnTo>
                <a:cubicBezTo>
                  <a:pt x="10954605" y="0"/>
                  <a:pt x="10972800" y="18195"/>
                  <a:pt x="10972800" y="40640"/>
                </a:cubicBezTo>
                <a:lnTo>
                  <a:pt x="10972800" y="467360"/>
                </a:lnTo>
                <a:cubicBezTo>
                  <a:pt x="10972800" y="489805"/>
                  <a:pt x="10954605" y="508000"/>
                  <a:pt x="10932160" y="508000"/>
                </a:cubicBezTo>
                <a:lnTo>
                  <a:pt x="40640" y="508000"/>
                </a:lnTo>
                <a:cubicBezTo>
                  <a:pt x="18195" y="508000"/>
                  <a:pt x="0" y="489805"/>
                  <a:pt x="0" y="467360"/>
                </a:cubicBezTo>
                <a:lnTo>
                  <a:pt x="0" y="40640"/>
                </a:lnTo>
                <a:cubicBezTo>
                  <a:pt x="0" y="18195"/>
                  <a:pt x="18195" y="0"/>
                  <a:pt x="40640" y="0"/>
                </a:cubicBezTo>
                <a:close/>
              </a:path>
            </a:pathLst>
          </a:custGeom>
          <a:solidFill>
            <a:srgbClr val="1F61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600" y="1036320"/>
            <a:ext cx="10972800" cy="304800"/>
          </a:xfrm>
          <a:custGeom>
            <a:avLst/>
            <a:gdLst/>
            <a:ahLst/>
            <a:cxnLst/>
            <a:rect l="0" t="0" r="r" b="b"/>
            <a:pathLst>
              <a:path w="10972800" h="304800">
                <a:moveTo>
                  <a:pt x="0" y="0"/>
                </a:moveTo>
                <a:lnTo>
                  <a:pt x="10972800" y="0"/>
                </a:lnTo>
                <a:lnTo>
                  <a:pt x="10972800" y="304800"/>
                </a:lnTo>
                <a:lnTo>
                  <a:pt x="0" y="304800"/>
                </a:lnTo>
                <a:close/>
              </a:path>
            </a:pathLst>
          </a:custGeom>
          <a:solidFill>
            <a:srgbClr val="1F61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4064000" y="833120"/>
            <a:ext cx="0" cy="508000"/>
          </a:xfrm>
          <a:prstGeom prst="line">
            <a:avLst/>
          </a:prstGeom>
          <a:ln w="12700">
            <a:solidFill>
              <a:srgbClr val="3A7A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689600" y="833120"/>
            <a:ext cx="0" cy="508000"/>
          </a:xfrm>
          <a:prstGeom prst="line">
            <a:avLst/>
          </a:prstGeom>
          <a:ln w="12700">
            <a:solidFill>
              <a:srgbClr val="3A7A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315200" y="833120"/>
            <a:ext cx="0" cy="508000"/>
          </a:xfrm>
          <a:prstGeom prst="line">
            <a:avLst/>
          </a:prstGeom>
          <a:ln w="12700">
            <a:solidFill>
              <a:srgbClr val="3A7A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839200" y="833120"/>
            <a:ext cx="0" cy="508000"/>
          </a:xfrm>
          <a:prstGeom prst="line">
            <a:avLst/>
          </a:prstGeom>
          <a:ln w="12700">
            <a:solidFill>
              <a:srgbClr val="3A7A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609600" y="1341120"/>
            <a:ext cx="10972800" cy="762000"/>
          </a:xfrm>
          <a:custGeom>
            <a:avLst/>
            <a:gdLst/>
            <a:ahLst/>
            <a:cxnLst/>
            <a:rect l="0" t="0" r="r" b="b"/>
            <a:pathLst>
              <a:path w="10972800" h="762000">
                <a:moveTo>
                  <a:pt x="0" y="0"/>
                </a:moveTo>
                <a:lnTo>
                  <a:pt x="10972800" y="0"/>
                </a:lnTo>
                <a:lnTo>
                  <a:pt x="10972800" y="762000"/>
                </a:lnTo>
                <a:lnTo>
                  <a:pt x="0" y="762000"/>
                </a:lnTo>
                <a:close/>
              </a:path>
            </a:pathLst>
          </a:cu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609600" y="2103120"/>
            <a:ext cx="10972800" cy="0"/>
          </a:xfrm>
          <a:prstGeom prst="line">
            <a:avLst/>
          </a:prstGeom>
          <a:ln w="12700">
            <a:solidFill>
              <a:srgbClr val="D5DB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609600" y="2103120"/>
            <a:ext cx="10972800" cy="762000"/>
          </a:xfrm>
          <a:custGeom>
            <a:avLst/>
            <a:gdLst/>
            <a:ahLst/>
            <a:cxnLst/>
            <a:rect l="0" t="0" r="r" b="b"/>
            <a:pathLst>
              <a:path w="10972800" h="762000">
                <a:moveTo>
                  <a:pt x="0" y="0"/>
                </a:moveTo>
                <a:lnTo>
                  <a:pt x="10972800" y="0"/>
                </a:lnTo>
                <a:lnTo>
                  <a:pt x="10972800" y="762000"/>
                </a:lnTo>
                <a:lnTo>
                  <a:pt x="0" y="762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072880" y="2367280"/>
            <a:ext cx="914400" cy="284480"/>
          </a:xfrm>
          <a:prstGeom prst="rect">
            <a:avLst/>
          </a:prstGeom>
          <a:solidFill>
            <a:srgbClr val="FADBD8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609600" y="2865120"/>
            <a:ext cx="10972800" cy="0"/>
          </a:xfrm>
          <a:prstGeom prst="line">
            <a:avLst/>
          </a:prstGeom>
          <a:ln w="12700">
            <a:solidFill>
              <a:srgbClr val="D5DB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09600" y="2865120"/>
            <a:ext cx="10972800" cy="812800"/>
          </a:xfrm>
          <a:custGeom>
            <a:avLst/>
            <a:gdLst/>
            <a:ahLst/>
            <a:cxnLst/>
            <a:rect l="0" t="0" r="r" b="b"/>
            <a:pathLst>
              <a:path w="10972800" h="812800">
                <a:moveTo>
                  <a:pt x="0" y="0"/>
                </a:moveTo>
                <a:lnTo>
                  <a:pt x="10972800" y="0"/>
                </a:lnTo>
                <a:lnTo>
                  <a:pt x="10972800" y="812800"/>
                </a:lnTo>
                <a:lnTo>
                  <a:pt x="0" y="812800"/>
                </a:lnTo>
                <a:close/>
              </a:path>
            </a:pathLst>
          </a:custGeom>
          <a:solidFill>
            <a:srgbClr val="EAFAF1"/>
          </a:solidFill>
          <a:ln w="12700">
            <a:solidFill>
              <a:srgbClr val="A9D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418080" y="3230880"/>
            <a:ext cx="1066800" cy="223520"/>
          </a:xfrm>
          <a:prstGeom prst="rect">
            <a:avLst/>
          </a:prstGeom>
          <a:solidFill>
            <a:srgbClr val="D5F5E3"/>
          </a:solidFill>
          <a:ln w="12700">
            <a:solidFill>
              <a:srgbClr val="1E8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72880" y="3230880"/>
            <a:ext cx="914400" cy="284480"/>
          </a:xfrm>
          <a:prstGeom prst="rect">
            <a:avLst/>
          </a:prstGeom>
          <a:solidFill>
            <a:srgbClr val="D5F5E3"/>
          </a:solidFill>
          <a:ln w="12700">
            <a:solidFill>
              <a:srgbClr val="1E8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9600" y="3677920"/>
            <a:ext cx="10972800" cy="2032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4064000" y="1341120"/>
            <a:ext cx="0" cy="2336800"/>
          </a:xfrm>
          <a:prstGeom prst="line">
            <a:avLst/>
          </a:prstGeom>
          <a:ln w="12700">
            <a:solidFill>
              <a:srgbClr val="D5DB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689600" y="1341120"/>
            <a:ext cx="0" cy="2336800"/>
          </a:xfrm>
          <a:prstGeom prst="line">
            <a:avLst/>
          </a:prstGeom>
          <a:ln w="12700">
            <a:solidFill>
              <a:srgbClr val="D5DB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315200" y="1341120"/>
            <a:ext cx="0" cy="2336800"/>
          </a:xfrm>
          <a:prstGeom prst="line">
            <a:avLst/>
          </a:prstGeom>
          <a:ln w="12700">
            <a:solidFill>
              <a:srgbClr val="D5DB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839200" y="1341120"/>
            <a:ext cx="0" cy="2336800"/>
          </a:xfrm>
          <a:prstGeom prst="line">
            <a:avLst/>
          </a:prstGeom>
          <a:ln w="12700">
            <a:solidFill>
              <a:srgbClr val="D5DB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609600" y="4185920"/>
            <a:ext cx="142240" cy="142240"/>
          </a:xfrm>
          <a:prstGeom prst="rect">
            <a:avLst/>
          </a:prstGeom>
          <a:solidFill>
            <a:srgbClr val="FADBD8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946400" y="4185920"/>
            <a:ext cx="142240" cy="142240"/>
          </a:xfrm>
          <a:prstGeom prst="rect">
            <a:avLst/>
          </a:prstGeom>
          <a:solidFill>
            <a:srgbClr val="D5F5E3"/>
          </a:solidFill>
          <a:ln w="12700">
            <a:solidFill>
              <a:srgbClr val="1E8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9600" y="4551680"/>
            <a:ext cx="10972800" cy="629920"/>
          </a:xfrm>
          <a:custGeom>
            <a:avLst/>
            <a:gdLst/>
            <a:ahLst/>
            <a:cxnLst/>
            <a:rect l="0" t="0" r="r" b="b"/>
            <a:pathLst>
              <a:path w="10972800" h="629920">
                <a:moveTo>
                  <a:pt x="60960" y="0"/>
                </a:moveTo>
                <a:lnTo>
                  <a:pt x="10911840" y="0"/>
                </a:lnTo>
                <a:cubicBezTo>
                  <a:pt x="10945507" y="0"/>
                  <a:pt x="10972800" y="27293"/>
                  <a:pt x="10972800" y="60960"/>
                </a:cubicBezTo>
                <a:lnTo>
                  <a:pt x="10972800" y="568960"/>
                </a:lnTo>
                <a:cubicBezTo>
                  <a:pt x="10972800" y="602627"/>
                  <a:pt x="10945507" y="629920"/>
                  <a:pt x="10911840" y="629920"/>
                </a:cubicBezTo>
                <a:lnTo>
                  <a:pt x="60960" y="629920"/>
                </a:lnTo>
                <a:cubicBezTo>
                  <a:pt x="27293" y="629920"/>
                  <a:pt x="0" y="602627"/>
                  <a:pt x="0" y="568960"/>
                </a:cubicBezTo>
                <a:lnTo>
                  <a:pt x="0" y="60960"/>
                </a:lnTo>
                <a:cubicBezTo>
                  <a:pt x="0" y="27293"/>
                  <a:pt x="27293" y="0"/>
                  <a:pt x="60960" y="0"/>
                </a:cubicBezTo>
                <a:close/>
              </a:path>
            </a:pathLst>
          </a:custGeom>
          <a:solidFill>
            <a:srgbClr val="EAFAF1"/>
          </a:solidFill>
          <a:ln w="19050">
            <a:solidFill>
              <a:srgbClr val="A9D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0" y="6583680"/>
            <a:ext cx="12192000" cy="0"/>
          </a:xfrm>
          <a:prstGeom prst="line">
            <a:avLst/>
          </a:prstGeom>
          <a:ln w="12700">
            <a:solidFill>
              <a:srgbClr val="D5DB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09600" y="330200"/>
            <a:ext cx="5394960" cy="34340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2600" b="1">
                <a:solidFill>
                  <a:srgbClr val="1F618D"/>
                </a:solidFill>
                <a:latin typeface="Helvetica"/>
              </a:rPr>
              <a:t>Model Comparison — Key Metrics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50720" y="1026160"/>
            <a:ext cx="772160" cy="2113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600">
                <a:solidFill>
                  <a:srgbClr val="FFFFFF"/>
                </a:solidFill>
                <a:latin typeface="Helvetica"/>
              </a:rPr>
              <a:t>Model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37888" y="1026160"/>
            <a:ext cx="877824" cy="2113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600">
                <a:solidFill>
                  <a:srgbClr val="FFFFFF"/>
                </a:solidFill>
                <a:latin typeface="Helvetica"/>
              </a:rPr>
              <a:t>EN QWK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04992" y="1026160"/>
            <a:ext cx="1194816" cy="2113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600">
                <a:solidFill>
                  <a:srgbClr val="FFFFFF"/>
                </a:solidFill>
                <a:latin typeface="Helvetica"/>
              </a:rPr>
              <a:t>zh-TW QWK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8288" y="1026160"/>
            <a:ext cx="877824" cy="2113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600">
                <a:solidFill>
                  <a:srgbClr val="FFFFFF"/>
                </a:solidFill>
                <a:latin typeface="Helvetica"/>
              </a:rPr>
              <a:t>Δ Drop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05392" y="1026160"/>
            <a:ext cx="1194816" cy="2113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600">
                <a:solidFill>
                  <a:srgbClr val="FFFFFF"/>
                </a:solidFill>
                <a:latin typeface="Helvetica"/>
              </a:rPr>
              <a:t>DIF Flags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1686560"/>
            <a:ext cx="1828800" cy="2113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600">
                <a:solidFill>
                  <a:srgbClr val="2C3E50"/>
                </a:solidFill>
                <a:latin typeface="Helvetica"/>
              </a:rPr>
              <a:t>GPT-4 zero-shot</a:t>
            </a:r>
            <a:r>
              <a:rPr sz="1600" i="1">
                <a:solidFill>
                  <a:srgbClr val="7F8C8D"/>
                </a:solidFill>
                <a:latin typeface="Helvetica"/>
              </a:rPr>
              <a:t>(baseline)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90720" y="1686560"/>
            <a:ext cx="772160" cy="2113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600">
                <a:solidFill>
                  <a:srgbClr val="2C3E50"/>
                </a:solidFill>
                <a:latin typeface="Helvetica"/>
              </a:rPr>
              <a:t>0.674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27648" y="1686560"/>
            <a:ext cx="349504" cy="2113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600">
                <a:solidFill>
                  <a:srgbClr val="B0B8C1"/>
                </a:solidFill>
                <a:latin typeface="Helvetica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2448" y="1686560"/>
            <a:ext cx="349504" cy="2113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600">
                <a:solidFill>
                  <a:srgbClr val="B0B8C1"/>
                </a:solidFill>
                <a:latin typeface="Helvetica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28048" y="1686560"/>
            <a:ext cx="349504" cy="2113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600">
                <a:solidFill>
                  <a:srgbClr val="B0B8C1"/>
                </a:solidFill>
                <a:latin typeface="Helvetica"/>
              </a:rPr>
              <a:t>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2800" y="2448560"/>
            <a:ext cx="2251456" cy="2113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600">
                <a:solidFill>
                  <a:srgbClr val="2C3E50"/>
                </a:solidFill>
                <a:latin typeface="Helvetica"/>
              </a:rPr>
              <a:t>EN-BERT-ZS Transfer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90720" y="2448560"/>
            <a:ext cx="772160" cy="2113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600">
                <a:solidFill>
                  <a:srgbClr val="2C3E50"/>
                </a:solidFill>
                <a:latin typeface="Helvetica"/>
              </a:rPr>
              <a:t>0.853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16320" y="2448560"/>
            <a:ext cx="772160" cy="2113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600">
                <a:solidFill>
                  <a:srgbClr val="2C3E50"/>
                </a:solidFill>
                <a:latin typeface="Helvetica"/>
              </a:rPr>
              <a:t>0.541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38288" y="2448560"/>
            <a:ext cx="877824" cy="2113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600">
                <a:solidFill>
                  <a:srgbClr val="C0392B"/>
                </a:solidFill>
                <a:latin typeface="Helvetica"/>
              </a:rPr>
              <a:t>−0.312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10980" y="2435860"/>
            <a:ext cx="838200" cy="1981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500">
                <a:solidFill>
                  <a:srgbClr val="C0392B"/>
                </a:solidFill>
                <a:latin typeface="Helvetica"/>
              </a:rPr>
              <a:t>6 / 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2800" y="3251200"/>
            <a:ext cx="1300480" cy="2113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600" b="1">
                <a:solidFill>
                  <a:srgbClr val="1E8449"/>
                </a:solidFill>
                <a:latin typeface="Helvetica"/>
              </a:rPr>
              <a:t>ZH-BERT-FT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09368" y="3284220"/>
            <a:ext cx="1274064" cy="17170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300">
                <a:solidFill>
                  <a:srgbClr val="1E8449"/>
                </a:solidFill>
                <a:latin typeface="Helvetica"/>
              </a:rPr>
              <a:t>✓ Best Model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90720" y="3251200"/>
            <a:ext cx="772160" cy="2113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600">
                <a:solidFill>
                  <a:srgbClr val="1E8449"/>
                </a:solidFill>
                <a:latin typeface="Helvetica"/>
              </a:rPr>
              <a:t>0.828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16320" y="3251200"/>
            <a:ext cx="772160" cy="2113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600" b="1">
                <a:solidFill>
                  <a:srgbClr val="1E8449"/>
                </a:solidFill>
                <a:latin typeface="Helvetica"/>
              </a:rPr>
              <a:t>0.811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38288" y="3251200"/>
            <a:ext cx="877824" cy="2113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600">
                <a:solidFill>
                  <a:srgbClr val="1E8449"/>
                </a:solidFill>
                <a:latin typeface="Helvetica"/>
              </a:rPr>
              <a:t>−0.017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10980" y="3299460"/>
            <a:ext cx="838200" cy="1981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500" b="1">
                <a:solidFill>
                  <a:srgbClr val="1E8449"/>
                </a:solidFill>
                <a:latin typeface="Helvetica"/>
              </a:rPr>
              <a:t>0 / 12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9600" y="3886200"/>
            <a:ext cx="9027160" cy="18491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  <a:latin typeface="Helvetica"/>
              </a:rPr>
              <a:t>QWK = Quadratic Weighted Kappa  ·  DIF = Differential Item Functioning (Mantel-Haenszel, p&lt;.05)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3120" y="4201160"/>
            <a:ext cx="2092960" cy="18491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  <a:latin typeface="Helvetica"/>
              </a:rPr>
              <a:t>High bias (≥4 flags)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169920" y="4201160"/>
            <a:ext cx="1815592" cy="18491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  <a:latin typeface="Helvetica"/>
              </a:rPr>
              <a:t>No bias (0 flags)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707896" y="4686300"/>
            <a:ext cx="8776208" cy="22453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700">
                <a:solidFill>
                  <a:srgbClr val="1E8449"/>
                </a:solidFill>
                <a:latin typeface="Helvetica"/>
              </a:rPr>
              <a:t>ZH-BERT-FT: human-parity cross-lingual scoring with zero fairness violations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12620" y="4945380"/>
            <a:ext cx="8366760" cy="1981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500">
                <a:solidFill>
                  <a:srgbClr val="2C3E50"/>
                </a:solidFill>
                <a:latin typeface="Helvetica"/>
              </a:rPr>
              <a:t>Language-matched fine-tuning eliminates the −0.312 drop seen in zero-shot transfer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874008" y="6644640"/>
            <a:ext cx="4443984" cy="1584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200">
                <a:solidFill>
                  <a:srgbClr val="7F8C8D"/>
                </a:solidFill>
                <a:latin typeface="Helvetica"/>
              </a:rPr>
              <a:t>Cross-Lingual ESAS  ·  Weekly Progress  ·  2026-05-25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1F61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609600" y="660400"/>
            <a:ext cx="10972800" cy="0"/>
          </a:xfrm>
          <a:prstGeom prst="line">
            <a:avLst/>
          </a:prstGeom>
          <a:ln w="19050">
            <a:solidFill>
              <a:srgbClr val="D5DB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609600" y="914400"/>
            <a:ext cx="2560320" cy="2692400"/>
          </a:xfrm>
          <a:custGeom>
            <a:avLst/>
            <a:gdLst/>
            <a:ahLst/>
            <a:cxnLst/>
            <a:rect l="0" t="0" r="r" b="b"/>
            <a:pathLst>
              <a:path w="2560320" h="2692400">
                <a:moveTo>
                  <a:pt x="81280" y="0"/>
                </a:moveTo>
                <a:lnTo>
                  <a:pt x="2479040" y="0"/>
                </a:lnTo>
                <a:cubicBezTo>
                  <a:pt x="2523930" y="0"/>
                  <a:pt x="2560320" y="36390"/>
                  <a:pt x="2560320" y="81280"/>
                </a:cubicBezTo>
                <a:lnTo>
                  <a:pt x="2560320" y="2611120"/>
                </a:lnTo>
                <a:cubicBezTo>
                  <a:pt x="2560320" y="2656010"/>
                  <a:pt x="2523930" y="2692400"/>
                  <a:pt x="2479040" y="2692400"/>
                </a:cubicBezTo>
                <a:lnTo>
                  <a:pt x="81280" y="2692400"/>
                </a:lnTo>
                <a:cubicBezTo>
                  <a:pt x="36390" y="2692400"/>
                  <a:pt x="0" y="2656010"/>
                  <a:pt x="0" y="2611120"/>
                </a:cubicBezTo>
                <a:lnTo>
                  <a:pt x="0" y="81280"/>
                </a:lnTo>
                <a:cubicBezTo>
                  <a:pt x="0" y="36390"/>
                  <a:pt x="36390" y="0"/>
                  <a:pt x="81280" y="0"/>
                </a:cubicBezTo>
                <a:close/>
              </a:path>
            </a:pathLst>
          </a:custGeom>
          <a:solidFill>
            <a:srgbClr val="EAFAF1"/>
          </a:solidFill>
          <a:ln w="25400">
            <a:solidFill>
              <a:srgbClr val="A9D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600" y="914400"/>
            <a:ext cx="2560320" cy="71120"/>
          </a:xfrm>
          <a:prstGeom prst="rect">
            <a:avLst/>
          </a:prstGeom>
          <a:solidFill>
            <a:srgbClr val="1E8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965200"/>
            <a:ext cx="2560320" cy="30480"/>
          </a:xfrm>
          <a:prstGeom prst="rect">
            <a:avLst/>
          </a:prstGeom>
          <a:solidFill>
            <a:srgbClr val="1E8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873760" y="2438400"/>
            <a:ext cx="2032000" cy="0"/>
          </a:xfrm>
          <a:prstGeom prst="line">
            <a:avLst/>
          </a:prstGeom>
          <a:ln w="12700">
            <a:solidFill>
              <a:srgbClr val="A9D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332480" y="914400"/>
            <a:ext cx="2560320" cy="2692400"/>
          </a:xfrm>
          <a:custGeom>
            <a:avLst/>
            <a:gdLst/>
            <a:ahLst/>
            <a:cxnLst/>
            <a:rect l="0" t="0" r="r" b="b"/>
            <a:pathLst>
              <a:path w="2560320" h="2692400">
                <a:moveTo>
                  <a:pt x="81280" y="0"/>
                </a:moveTo>
                <a:lnTo>
                  <a:pt x="2479040" y="0"/>
                </a:lnTo>
                <a:cubicBezTo>
                  <a:pt x="2523930" y="0"/>
                  <a:pt x="2560320" y="36390"/>
                  <a:pt x="2560320" y="81280"/>
                </a:cubicBezTo>
                <a:lnTo>
                  <a:pt x="2560320" y="2611120"/>
                </a:lnTo>
                <a:cubicBezTo>
                  <a:pt x="2560320" y="2656010"/>
                  <a:pt x="2523930" y="2692400"/>
                  <a:pt x="2479040" y="2692400"/>
                </a:cubicBezTo>
                <a:lnTo>
                  <a:pt x="81280" y="2692400"/>
                </a:lnTo>
                <a:cubicBezTo>
                  <a:pt x="36390" y="2692400"/>
                  <a:pt x="0" y="2656010"/>
                  <a:pt x="0" y="2611120"/>
                </a:cubicBezTo>
                <a:lnTo>
                  <a:pt x="0" y="81280"/>
                </a:lnTo>
                <a:cubicBezTo>
                  <a:pt x="0" y="36390"/>
                  <a:pt x="36390" y="0"/>
                  <a:pt x="81280" y="0"/>
                </a:cubicBezTo>
                <a:close/>
              </a:path>
            </a:pathLst>
          </a:custGeom>
          <a:solidFill>
            <a:srgbClr val="EAFAF1"/>
          </a:solidFill>
          <a:ln w="25400">
            <a:solidFill>
              <a:srgbClr val="A9D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32480" y="914400"/>
            <a:ext cx="2560320" cy="71120"/>
          </a:xfrm>
          <a:prstGeom prst="rect">
            <a:avLst/>
          </a:prstGeom>
          <a:solidFill>
            <a:srgbClr val="1E8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32480" y="965200"/>
            <a:ext cx="2560320" cy="30480"/>
          </a:xfrm>
          <a:prstGeom prst="rect">
            <a:avLst/>
          </a:prstGeom>
          <a:solidFill>
            <a:srgbClr val="1E8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3596640" y="2438400"/>
            <a:ext cx="2032000" cy="0"/>
          </a:xfrm>
          <a:prstGeom prst="line">
            <a:avLst/>
          </a:prstGeom>
          <a:ln w="12700">
            <a:solidFill>
              <a:srgbClr val="A9D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6055360" y="914400"/>
            <a:ext cx="2560320" cy="2692400"/>
          </a:xfrm>
          <a:custGeom>
            <a:avLst/>
            <a:gdLst/>
            <a:ahLst/>
            <a:cxnLst/>
            <a:rect l="0" t="0" r="r" b="b"/>
            <a:pathLst>
              <a:path w="2560320" h="2692400">
                <a:moveTo>
                  <a:pt x="81280" y="0"/>
                </a:moveTo>
                <a:lnTo>
                  <a:pt x="2479040" y="0"/>
                </a:lnTo>
                <a:cubicBezTo>
                  <a:pt x="2523930" y="0"/>
                  <a:pt x="2560320" y="36390"/>
                  <a:pt x="2560320" y="81280"/>
                </a:cubicBezTo>
                <a:lnTo>
                  <a:pt x="2560320" y="2611120"/>
                </a:lnTo>
                <a:cubicBezTo>
                  <a:pt x="2560320" y="2656010"/>
                  <a:pt x="2523930" y="2692400"/>
                  <a:pt x="2479040" y="2692400"/>
                </a:cubicBezTo>
                <a:lnTo>
                  <a:pt x="81280" y="2692400"/>
                </a:lnTo>
                <a:cubicBezTo>
                  <a:pt x="36390" y="2692400"/>
                  <a:pt x="0" y="2656010"/>
                  <a:pt x="0" y="2611120"/>
                </a:cubicBezTo>
                <a:lnTo>
                  <a:pt x="0" y="81280"/>
                </a:lnTo>
                <a:cubicBezTo>
                  <a:pt x="0" y="36390"/>
                  <a:pt x="36390" y="0"/>
                  <a:pt x="81280" y="0"/>
                </a:cubicBezTo>
                <a:close/>
              </a:path>
            </a:pathLst>
          </a:custGeom>
          <a:solidFill>
            <a:srgbClr val="EAFAF1"/>
          </a:solidFill>
          <a:ln w="25400">
            <a:solidFill>
              <a:srgbClr val="A9D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55360" y="914400"/>
            <a:ext cx="2560320" cy="71120"/>
          </a:xfrm>
          <a:prstGeom prst="rect">
            <a:avLst/>
          </a:prstGeom>
          <a:solidFill>
            <a:srgbClr val="1E8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055360" y="965200"/>
            <a:ext cx="2560320" cy="30480"/>
          </a:xfrm>
          <a:prstGeom prst="rect">
            <a:avLst/>
          </a:prstGeom>
          <a:solidFill>
            <a:srgbClr val="1E8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6319520" y="2438400"/>
            <a:ext cx="2032000" cy="0"/>
          </a:xfrm>
          <a:prstGeom prst="line">
            <a:avLst/>
          </a:prstGeom>
          <a:ln w="12700">
            <a:solidFill>
              <a:srgbClr val="A9D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8778240" y="914400"/>
            <a:ext cx="2560320" cy="2692400"/>
          </a:xfrm>
          <a:custGeom>
            <a:avLst/>
            <a:gdLst/>
            <a:ahLst/>
            <a:cxnLst/>
            <a:rect l="0" t="0" r="r" b="b"/>
            <a:pathLst>
              <a:path w="2560320" h="2692400">
                <a:moveTo>
                  <a:pt x="81280" y="0"/>
                </a:moveTo>
                <a:lnTo>
                  <a:pt x="2479040" y="0"/>
                </a:lnTo>
                <a:cubicBezTo>
                  <a:pt x="2523930" y="0"/>
                  <a:pt x="2560320" y="36390"/>
                  <a:pt x="2560320" y="81280"/>
                </a:cubicBezTo>
                <a:lnTo>
                  <a:pt x="2560320" y="2611120"/>
                </a:lnTo>
                <a:cubicBezTo>
                  <a:pt x="2560320" y="2656010"/>
                  <a:pt x="2523930" y="2692400"/>
                  <a:pt x="2479040" y="2692400"/>
                </a:cubicBezTo>
                <a:lnTo>
                  <a:pt x="81280" y="2692400"/>
                </a:lnTo>
                <a:cubicBezTo>
                  <a:pt x="36390" y="2692400"/>
                  <a:pt x="0" y="2656010"/>
                  <a:pt x="0" y="2611120"/>
                </a:cubicBezTo>
                <a:lnTo>
                  <a:pt x="0" y="81280"/>
                </a:lnTo>
                <a:cubicBezTo>
                  <a:pt x="0" y="36390"/>
                  <a:pt x="36390" y="0"/>
                  <a:pt x="81280" y="0"/>
                </a:cubicBezTo>
                <a:close/>
              </a:path>
            </a:pathLst>
          </a:custGeom>
          <a:solidFill>
            <a:srgbClr val="FFFBEB"/>
          </a:solidFill>
          <a:ln w="25400">
            <a:solidFill>
              <a:srgbClr val="F0CA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78240" y="914400"/>
            <a:ext cx="2560320" cy="71120"/>
          </a:xfrm>
          <a:prstGeom prst="rect">
            <a:avLst/>
          </a:prstGeom>
          <a:solidFill>
            <a:srgbClr val="D68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40" y="965200"/>
            <a:ext cx="2560320" cy="30480"/>
          </a:xfrm>
          <a:prstGeom prst="rect">
            <a:avLst/>
          </a:prstGeom>
          <a:solidFill>
            <a:srgbClr val="D68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387840" y="1046480"/>
            <a:ext cx="792480" cy="223520"/>
          </a:xfrm>
          <a:prstGeom prst="rect">
            <a:avLst/>
          </a:prstGeom>
          <a:solidFill>
            <a:srgbClr val="FEF3C7"/>
          </a:solidFill>
          <a:ln w="12700">
            <a:solidFill>
              <a:srgbClr val="D689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042400" y="2438400"/>
            <a:ext cx="2032000" cy="0"/>
          </a:xfrm>
          <a:prstGeom prst="line">
            <a:avLst/>
          </a:prstGeom>
          <a:ln w="12700">
            <a:solidFill>
              <a:srgbClr val="F0CA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609600" y="4013200"/>
            <a:ext cx="10972800" cy="609600"/>
          </a:xfrm>
          <a:custGeom>
            <a:avLst/>
            <a:gdLst/>
            <a:ahLst/>
            <a:cxnLst/>
            <a:rect l="0" t="0" r="r" b="b"/>
            <a:pathLst>
              <a:path w="10972800" h="609600">
                <a:moveTo>
                  <a:pt x="60960" y="0"/>
                </a:moveTo>
                <a:lnTo>
                  <a:pt x="10911840" y="0"/>
                </a:lnTo>
                <a:cubicBezTo>
                  <a:pt x="10945507" y="0"/>
                  <a:pt x="10972800" y="27293"/>
                  <a:pt x="10972800" y="60960"/>
                </a:cubicBezTo>
                <a:lnTo>
                  <a:pt x="10972800" y="548640"/>
                </a:lnTo>
                <a:cubicBezTo>
                  <a:pt x="10972800" y="582307"/>
                  <a:pt x="10945507" y="609600"/>
                  <a:pt x="10911840" y="609600"/>
                </a:cubicBezTo>
                <a:lnTo>
                  <a:pt x="60960" y="609600"/>
                </a:lnTo>
                <a:cubicBezTo>
                  <a:pt x="27293" y="609600"/>
                  <a:pt x="0" y="582307"/>
                  <a:pt x="0" y="548640"/>
                </a:cubicBezTo>
                <a:lnTo>
                  <a:pt x="0" y="60960"/>
                </a:lnTo>
                <a:cubicBezTo>
                  <a:pt x="0" y="27293"/>
                  <a:pt x="27293" y="0"/>
                  <a:pt x="60960" y="0"/>
                </a:cubicBezTo>
                <a:close/>
              </a:path>
            </a:pathLst>
          </a:custGeom>
          <a:solidFill>
            <a:srgbClr val="EAFAF1"/>
          </a:solidFill>
          <a:ln w="19050">
            <a:solidFill>
              <a:srgbClr val="A9D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0" y="6583680"/>
            <a:ext cx="12192000" cy="0"/>
          </a:xfrm>
          <a:prstGeom prst="line">
            <a:avLst/>
          </a:prstGeom>
          <a:ln w="12700">
            <a:solidFill>
              <a:srgbClr val="D5DB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09600" y="330200"/>
            <a:ext cx="6253480" cy="34340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2600" b="1">
                <a:solidFill>
                  <a:srgbClr val="1F618D"/>
                </a:solidFill>
                <a:latin typeface="Helvetica"/>
              </a:rPr>
              <a:t>Key Results — ZH-BERT-FT Best Model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62634" y="1272540"/>
            <a:ext cx="1254252" cy="22453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700">
                <a:solidFill>
                  <a:srgbClr val="7F8C8D"/>
                </a:solidFill>
                <a:latin typeface="Helvetica"/>
              </a:rPr>
              <a:t>zh-TW QWK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4220" y="1691640"/>
            <a:ext cx="2291080" cy="8188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6200" b="1">
                <a:solidFill>
                  <a:srgbClr val="1E8449"/>
                </a:solidFill>
                <a:latin typeface="Helvetica"/>
              </a:rPr>
              <a:t>0.811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519680"/>
            <a:ext cx="2357120" cy="2113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600">
                <a:solidFill>
                  <a:srgbClr val="1E8449"/>
                </a:solidFill>
                <a:latin typeface="Helvetica"/>
              </a:rPr>
              <a:t>+0.270 vs. zero-shot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7052" y="2768600"/>
            <a:ext cx="2185416" cy="18491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400">
                <a:solidFill>
                  <a:srgbClr val="7F8C8D"/>
                </a:solidFill>
                <a:latin typeface="Helvetica"/>
              </a:rPr>
              <a:t>ZH-BERT-FT · test set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5912" y="3355340"/>
            <a:ext cx="2647696" cy="17170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300">
                <a:solidFill>
                  <a:srgbClr val="B0B8C1"/>
                </a:solidFill>
                <a:latin typeface="Helvetica"/>
              </a:rPr>
              <a:t>parity with human EN scoring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17112" y="1272540"/>
            <a:ext cx="1591056" cy="22453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700">
                <a:solidFill>
                  <a:srgbClr val="7F8C8D"/>
                </a:solidFill>
                <a:latin typeface="Helvetica"/>
              </a:rPr>
              <a:t>EN↔zh-TW Gap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20872" y="1752600"/>
            <a:ext cx="2383536" cy="7132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5400" b="1">
                <a:solidFill>
                  <a:srgbClr val="1E8449"/>
                </a:solidFill>
                <a:latin typeface="Helvetica"/>
              </a:rPr>
              <a:t>−0.017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75584" y="2519680"/>
            <a:ext cx="2674112" cy="2113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600">
                <a:solidFill>
                  <a:srgbClr val="1E8449"/>
                </a:solidFill>
                <a:latin typeface="Helvetica"/>
              </a:rPr>
              <a:t>within annotation noise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65196" y="2768600"/>
            <a:ext cx="3294888" cy="18491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400">
                <a:solidFill>
                  <a:srgbClr val="7F8C8D"/>
                </a:solidFill>
                <a:latin typeface="Helvetica"/>
              </a:rPr>
              <a:t>EN-ZS gap was −0.312 (18× better)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45866" y="3355340"/>
            <a:ext cx="2733548" cy="17170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300">
                <a:solidFill>
                  <a:srgbClr val="B0B8C1"/>
                </a:solidFill>
                <a:latin typeface="Helvetica"/>
              </a:rPr>
              <a:t>cross-lingual parity achieved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08394" y="1272540"/>
            <a:ext cx="1254252" cy="22453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700">
                <a:solidFill>
                  <a:srgbClr val="7F8C8D"/>
                </a:solidFill>
                <a:latin typeface="Helvetica"/>
              </a:rPr>
              <a:t>DIF Flags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85256" y="1691640"/>
            <a:ext cx="2700528" cy="8188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6200" b="1">
                <a:solidFill>
                  <a:srgbClr val="1E8449"/>
                </a:solidFill>
                <a:latin typeface="Helvetica"/>
              </a:rPr>
              <a:t>0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68288" y="2519680"/>
            <a:ext cx="1934464" cy="2113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600">
                <a:solidFill>
                  <a:srgbClr val="1E8449"/>
                </a:solidFill>
                <a:latin typeface="Helvetica"/>
              </a:rPr>
              <a:t>EN-ZS had 6 / 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96584" y="2768600"/>
            <a:ext cx="2277872" cy="18491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400">
                <a:solidFill>
                  <a:srgbClr val="7F8C8D"/>
                </a:solidFill>
                <a:latin typeface="Helvetica"/>
              </a:rPr>
              <a:t>Mantel-Haenszel, p&lt;.05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54598" y="3355340"/>
            <a:ext cx="2561844" cy="17170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300">
                <a:solidFill>
                  <a:srgbClr val="B0B8C1"/>
                </a:solidFill>
                <a:latin typeface="Helvetica"/>
              </a:rPr>
              <a:t>no systematic bias detected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75826" y="1099820"/>
            <a:ext cx="1016508" cy="17170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300">
                <a:solidFill>
                  <a:srgbClr val="D68910"/>
                </a:solidFill>
                <a:latin typeface="Helvetica"/>
              </a:rPr>
              <a:t>⏳ Pending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62872" y="1272540"/>
            <a:ext cx="1591056" cy="22453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700">
                <a:solidFill>
                  <a:srgbClr val="7F8C8D"/>
                </a:solidFill>
                <a:latin typeface="Helvetica"/>
              </a:rPr>
              <a:t>Annotation κ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17584" y="1691640"/>
            <a:ext cx="1881632" cy="8188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6200" b="1">
                <a:solidFill>
                  <a:srgbClr val="D68910"/>
                </a:solidFill>
                <a:latin typeface="Helvetica"/>
              </a:rPr>
              <a:t>0.84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79840" y="2519680"/>
            <a:ext cx="2357120" cy="2113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600">
                <a:solidFill>
                  <a:srgbClr val="D68910"/>
                </a:solidFill>
                <a:latin typeface="Helvetica"/>
              </a:rPr>
              <a:t>P5–P8 pending budget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03412" y="2768600"/>
            <a:ext cx="3109976" cy="18491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400">
                <a:solidFill>
                  <a:srgbClr val="7F8C8D"/>
                </a:solidFill>
                <a:latin typeface="Helvetica"/>
              </a:rPr>
              <a:t>P1–P4 only · target: 2026-06-10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49182" y="3355340"/>
            <a:ext cx="2218436" cy="17170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300">
                <a:solidFill>
                  <a:srgbClr val="B0B8C1"/>
                </a:solidFill>
                <a:latin typeface="Helvetica"/>
              </a:rPr>
              <a:t>Cohen's κ, 2 annotators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58824" y="4157980"/>
            <a:ext cx="9674352" cy="22453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700">
                <a:solidFill>
                  <a:srgbClr val="1E8449"/>
                </a:solidFill>
                <a:latin typeface="Helvetica"/>
              </a:rPr>
              <a:t>ZH-BERT-FT achieves human-parity cross-lingual scoring with zero fairness violations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061210" y="4406900"/>
            <a:ext cx="8069580" cy="1981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500">
                <a:solidFill>
                  <a:srgbClr val="2C3E50"/>
                </a:solidFill>
                <a:latin typeface="Helvetica"/>
              </a:rPr>
              <a:t>Language-matched fine-tuning + rubric-prefix conditioning is the winning recipe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874008" y="6644640"/>
            <a:ext cx="4443984" cy="1584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200">
                <a:solidFill>
                  <a:srgbClr val="7F8C8D"/>
                </a:solidFill>
                <a:latin typeface="Helvetica"/>
              </a:rPr>
              <a:t>Cross-Lingual ESAS  ·  Weekly Progress  ·  2026-05-25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1F61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609600" y="660400"/>
            <a:ext cx="10972800" cy="0"/>
          </a:xfrm>
          <a:prstGeom prst="line">
            <a:avLst/>
          </a:prstGeom>
          <a:ln w="19050">
            <a:solidFill>
              <a:srgbClr val="D5DB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609600" y="812800"/>
            <a:ext cx="5384800" cy="4876800"/>
          </a:xfrm>
          <a:custGeom>
            <a:avLst/>
            <a:gdLst/>
            <a:ahLst/>
            <a:cxnLst/>
            <a:rect l="0" t="0" r="r" b="b"/>
            <a:pathLst>
              <a:path w="5384800" h="4876800">
                <a:moveTo>
                  <a:pt x="81280" y="0"/>
                </a:moveTo>
                <a:lnTo>
                  <a:pt x="5303520" y="0"/>
                </a:lnTo>
                <a:cubicBezTo>
                  <a:pt x="5348410" y="0"/>
                  <a:pt x="5384800" y="36390"/>
                  <a:pt x="5384800" y="81280"/>
                </a:cubicBezTo>
                <a:lnTo>
                  <a:pt x="5384800" y="4795520"/>
                </a:lnTo>
                <a:cubicBezTo>
                  <a:pt x="5384800" y="4840410"/>
                  <a:pt x="5348410" y="4876800"/>
                  <a:pt x="5303520" y="4876800"/>
                </a:cubicBezTo>
                <a:lnTo>
                  <a:pt x="81280" y="4876800"/>
                </a:lnTo>
                <a:cubicBezTo>
                  <a:pt x="36390" y="4876800"/>
                  <a:pt x="0" y="4840410"/>
                  <a:pt x="0" y="4795520"/>
                </a:cubicBezTo>
                <a:lnTo>
                  <a:pt x="0" y="81280"/>
                </a:lnTo>
                <a:cubicBezTo>
                  <a:pt x="0" y="36390"/>
                  <a:pt x="36390" y="0"/>
                  <a:pt x="81280" y="0"/>
                </a:cubicBezTo>
                <a:close/>
              </a:path>
            </a:pathLst>
          </a:custGeom>
          <a:solidFill>
            <a:srgbClr val="F2F3F4"/>
          </a:solidFill>
          <a:ln w="1905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600" y="812800"/>
            <a:ext cx="5384800" cy="447040"/>
          </a:xfrm>
          <a:prstGeom prst="rect">
            <a:avLst/>
          </a:prstGeom>
          <a:solidFill>
            <a:srgbClr val="1F61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036320"/>
            <a:ext cx="5384800" cy="223520"/>
          </a:xfrm>
          <a:prstGeom prst="rect">
            <a:avLst/>
          </a:prstGeom>
          <a:solidFill>
            <a:srgbClr val="1F61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92480" y="1605280"/>
            <a:ext cx="325120" cy="325120"/>
          </a:xfrm>
          <a:prstGeom prst="ellipse">
            <a:avLst/>
          </a:prstGeom>
          <a:solidFill>
            <a:srgbClr val="1E8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92480" y="2529840"/>
            <a:ext cx="325120" cy="32512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2480" y="3454400"/>
            <a:ext cx="325120" cy="325120"/>
          </a:xfrm>
          <a:prstGeom prst="ellipse">
            <a:avLst/>
          </a:prstGeom>
          <a:solidFill>
            <a:srgbClr val="D68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7600" y="812800"/>
            <a:ext cx="5384800" cy="4876800"/>
          </a:xfrm>
          <a:custGeom>
            <a:avLst/>
            <a:gdLst/>
            <a:ahLst/>
            <a:cxnLst/>
            <a:rect l="0" t="0" r="r" b="b"/>
            <a:pathLst>
              <a:path w="5384800" h="4876800">
                <a:moveTo>
                  <a:pt x="81280" y="0"/>
                </a:moveTo>
                <a:lnTo>
                  <a:pt x="5303520" y="0"/>
                </a:lnTo>
                <a:cubicBezTo>
                  <a:pt x="5348410" y="0"/>
                  <a:pt x="5384800" y="36390"/>
                  <a:pt x="5384800" y="81280"/>
                </a:cubicBezTo>
                <a:lnTo>
                  <a:pt x="5384800" y="4795520"/>
                </a:lnTo>
                <a:cubicBezTo>
                  <a:pt x="5384800" y="4840410"/>
                  <a:pt x="5348410" y="4876800"/>
                  <a:pt x="5303520" y="4876800"/>
                </a:cubicBezTo>
                <a:lnTo>
                  <a:pt x="81280" y="4876800"/>
                </a:lnTo>
                <a:cubicBezTo>
                  <a:pt x="36390" y="4876800"/>
                  <a:pt x="0" y="4840410"/>
                  <a:pt x="0" y="4795520"/>
                </a:cubicBezTo>
                <a:lnTo>
                  <a:pt x="0" y="81280"/>
                </a:lnTo>
                <a:cubicBezTo>
                  <a:pt x="0" y="36390"/>
                  <a:pt x="36390" y="0"/>
                  <a:pt x="81280" y="0"/>
                </a:cubicBezTo>
                <a:close/>
              </a:path>
            </a:pathLst>
          </a:custGeom>
          <a:solidFill>
            <a:srgbClr val="EAFAF1"/>
          </a:solidFill>
          <a:ln w="19050">
            <a:solidFill>
              <a:srgbClr val="A9D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7600" y="812800"/>
            <a:ext cx="5384800" cy="447040"/>
          </a:xfrm>
          <a:prstGeom prst="rect">
            <a:avLst/>
          </a:prstGeom>
          <a:solidFill>
            <a:srgbClr val="1E8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7600" y="1036320"/>
            <a:ext cx="5384800" cy="223520"/>
          </a:xfrm>
          <a:prstGeom prst="rect">
            <a:avLst/>
          </a:prstGeom>
          <a:solidFill>
            <a:srgbClr val="1E8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41440" y="1473200"/>
            <a:ext cx="4897120" cy="812800"/>
          </a:xfrm>
          <a:custGeom>
            <a:avLst/>
            <a:gdLst/>
            <a:ahLst/>
            <a:cxnLst/>
            <a:rect l="0" t="0" r="r" b="b"/>
            <a:pathLst>
              <a:path w="4897120" h="812800">
                <a:moveTo>
                  <a:pt x="60960" y="0"/>
                </a:moveTo>
                <a:lnTo>
                  <a:pt x="4836160" y="0"/>
                </a:lnTo>
                <a:cubicBezTo>
                  <a:pt x="4869827" y="0"/>
                  <a:pt x="4897120" y="27293"/>
                  <a:pt x="4897120" y="60960"/>
                </a:cubicBezTo>
                <a:lnTo>
                  <a:pt x="4897120" y="751840"/>
                </a:lnTo>
                <a:cubicBezTo>
                  <a:pt x="4897120" y="785507"/>
                  <a:pt x="4869827" y="812800"/>
                  <a:pt x="4836160" y="812800"/>
                </a:cubicBezTo>
                <a:lnTo>
                  <a:pt x="60960" y="812800"/>
                </a:lnTo>
                <a:cubicBezTo>
                  <a:pt x="27293" y="812800"/>
                  <a:pt x="0" y="785507"/>
                  <a:pt x="0" y="751840"/>
                </a:cubicBezTo>
                <a:lnTo>
                  <a:pt x="0" y="60960"/>
                </a:lnTo>
                <a:cubicBezTo>
                  <a:pt x="0" y="27293"/>
                  <a:pt x="27293" y="0"/>
                  <a:pt x="60960" y="0"/>
                </a:cubicBezTo>
                <a:close/>
              </a:path>
            </a:pathLst>
          </a:custGeom>
          <a:solidFill>
            <a:srgbClr val="FFFFFF"/>
          </a:solidFill>
          <a:ln w="12700">
            <a:solidFill>
              <a:srgbClr val="A9D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41440" y="1473200"/>
            <a:ext cx="60960" cy="812800"/>
          </a:xfrm>
          <a:prstGeom prst="rect">
            <a:avLst/>
          </a:prstGeom>
          <a:solidFill>
            <a:srgbClr val="1E8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41440" y="2468880"/>
            <a:ext cx="4897120" cy="812800"/>
          </a:xfrm>
          <a:custGeom>
            <a:avLst/>
            <a:gdLst/>
            <a:ahLst/>
            <a:cxnLst/>
            <a:rect l="0" t="0" r="r" b="b"/>
            <a:pathLst>
              <a:path w="4897120" h="812800">
                <a:moveTo>
                  <a:pt x="60960" y="0"/>
                </a:moveTo>
                <a:lnTo>
                  <a:pt x="4836160" y="0"/>
                </a:lnTo>
                <a:cubicBezTo>
                  <a:pt x="4869827" y="0"/>
                  <a:pt x="4897120" y="27293"/>
                  <a:pt x="4897120" y="60960"/>
                </a:cubicBezTo>
                <a:lnTo>
                  <a:pt x="4897120" y="751840"/>
                </a:lnTo>
                <a:cubicBezTo>
                  <a:pt x="4897120" y="785507"/>
                  <a:pt x="4869827" y="812800"/>
                  <a:pt x="4836160" y="812800"/>
                </a:cubicBezTo>
                <a:lnTo>
                  <a:pt x="60960" y="812800"/>
                </a:lnTo>
                <a:cubicBezTo>
                  <a:pt x="27293" y="812800"/>
                  <a:pt x="0" y="785507"/>
                  <a:pt x="0" y="751840"/>
                </a:cubicBezTo>
                <a:lnTo>
                  <a:pt x="0" y="60960"/>
                </a:lnTo>
                <a:cubicBezTo>
                  <a:pt x="0" y="27293"/>
                  <a:pt x="27293" y="0"/>
                  <a:pt x="60960" y="0"/>
                </a:cubicBezTo>
                <a:close/>
              </a:path>
            </a:pathLst>
          </a:custGeom>
          <a:solidFill>
            <a:srgbClr val="FFFFFF"/>
          </a:solidFill>
          <a:ln w="12700">
            <a:solidFill>
              <a:srgbClr val="A9D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41440" y="2468880"/>
            <a:ext cx="60960" cy="812800"/>
          </a:xfrm>
          <a:prstGeom prst="rect">
            <a:avLst/>
          </a:prstGeom>
          <a:solidFill>
            <a:srgbClr val="D68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41440" y="3464560"/>
            <a:ext cx="4897120" cy="812800"/>
          </a:xfrm>
          <a:custGeom>
            <a:avLst/>
            <a:gdLst/>
            <a:ahLst/>
            <a:cxnLst/>
            <a:rect l="0" t="0" r="r" b="b"/>
            <a:pathLst>
              <a:path w="4897120" h="812800">
                <a:moveTo>
                  <a:pt x="60960" y="0"/>
                </a:moveTo>
                <a:lnTo>
                  <a:pt x="4836160" y="0"/>
                </a:lnTo>
                <a:cubicBezTo>
                  <a:pt x="4869827" y="0"/>
                  <a:pt x="4897120" y="27293"/>
                  <a:pt x="4897120" y="60960"/>
                </a:cubicBezTo>
                <a:lnTo>
                  <a:pt x="4897120" y="751840"/>
                </a:lnTo>
                <a:cubicBezTo>
                  <a:pt x="4897120" y="785507"/>
                  <a:pt x="4869827" y="812800"/>
                  <a:pt x="4836160" y="812800"/>
                </a:cubicBezTo>
                <a:lnTo>
                  <a:pt x="60960" y="812800"/>
                </a:lnTo>
                <a:cubicBezTo>
                  <a:pt x="27293" y="812800"/>
                  <a:pt x="0" y="785507"/>
                  <a:pt x="0" y="751840"/>
                </a:cubicBezTo>
                <a:lnTo>
                  <a:pt x="0" y="60960"/>
                </a:lnTo>
                <a:cubicBezTo>
                  <a:pt x="0" y="27293"/>
                  <a:pt x="27293" y="0"/>
                  <a:pt x="60960" y="0"/>
                </a:cubicBezTo>
                <a:close/>
              </a:path>
            </a:pathLst>
          </a:custGeom>
          <a:solidFill>
            <a:srgbClr val="FFFFFF"/>
          </a:solidFill>
          <a:ln w="12700">
            <a:solidFill>
              <a:srgbClr val="A9D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41440" y="3464560"/>
            <a:ext cx="60960" cy="812800"/>
          </a:xfrm>
          <a:prstGeom prst="rect">
            <a:avLst/>
          </a:prstGeom>
          <a:solidFill>
            <a:srgbClr val="1F61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9600" y="5842000"/>
            <a:ext cx="10972800" cy="508000"/>
          </a:xfrm>
          <a:custGeom>
            <a:avLst/>
            <a:gdLst/>
            <a:ahLst/>
            <a:cxnLst/>
            <a:rect l="0" t="0" r="r" b="b"/>
            <a:pathLst>
              <a:path w="10972800" h="508000">
                <a:moveTo>
                  <a:pt x="60960" y="0"/>
                </a:moveTo>
                <a:lnTo>
                  <a:pt x="10911840" y="0"/>
                </a:lnTo>
                <a:cubicBezTo>
                  <a:pt x="10945507" y="0"/>
                  <a:pt x="10972800" y="27293"/>
                  <a:pt x="10972800" y="60960"/>
                </a:cubicBezTo>
                <a:lnTo>
                  <a:pt x="10972800" y="447040"/>
                </a:lnTo>
                <a:cubicBezTo>
                  <a:pt x="10972800" y="480707"/>
                  <a:pt x="10945507" y="508000"/>
                  <a:pt x="10911840" y="508000"/>
                </a:cubicBezTo>
                <a:lnTo>
                  <a:pt x="60960" y="508000"/>
                </a:lnTo>
                <a:cubicBezTo>
                  <a:pt x="27293" y="508000"/>
                  <a:pt x="0" y="480707"/>
                  <a:pt x="0" y="447040"/>
                </a:cubicBezTo>
                <a:lnTo>
                  <a:pt x="0" y="60960"/>
                </a:lnTo>
                <a:cubicBezTo>
                  <a:pt x="0" y="27293"/>
                  <a:pt x="27293" y="0"/>
                  <a:pt x="60960" y="0"/>
                </a:cubicBezTo>
                <a:close/>
              </a:path>
            </a:pathLst>
          </a:custGeom>
          <a:solidFill>
            <a:srgbClr val="1F61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0" y="6583680"/>
            <a:ext cx="12192000" cy="0"/>
          </a:xfrm>
          <a:prstGeom prst="line">
            <a:avLst/>
          </a:prstGeom>
          <a:ln w="12700">
            <a:solidFill>
              <a:srgbClr val="D5DB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09600" y="330200"/>
            <a:ext cx="4193032" cy="34340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2600" b="1">
                <a:solidFill>
                  <a:srgbClr val="1F618D"/>
                </a:solidFill>
                <a:latin typeface="Helvetica"/>
              </a:rPr>
              <a:t>Conclusion &amp; Next Steps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2606" y="967740"/>
            <a:ext cx="1478788" cy="22453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700">
                <a:solidFill>
                  <a:srgbClr val="FFFFFF"/>
                </a:solidFill>
                <a:latin typeface="Helvetica"/>
              </a:rPr>
              <a:t>Conclusions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892" y="1722120"/>
            <a:ext cx="336296" cy="18491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9360" y="1567180"/>
            <a:ext cx="5183632" cy="22453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700">
                <a:solidFill>
                  <a:srgbClr val="1F618D"/>
                </a:solidFill>
                <a:latin typeface="Helvetica"/>
              </a:rPr>
              <a:t>Language-matched fine-tuning achieves parity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9360" y="1818640"/>
            <a:ext cx="4047744" cy="2113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600">
                <a:solidFill>
                  <a:srgbClr val="2C3E50"/>
                </a:solidFill>
                <a:latin typeface="Helvetica"/>
              </a:rPr>
              <a:t>ZH-BERT-FT: QWK = 0.811, 0 DIF flags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9360" y="2021840"/>
            <a:ext cx="3730752" cy="2113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600">
                <a:solidFill>
                  <a:srgbClr val="2C3E50"/>
                </a:solidFill>
                <a:latin typeface="Helvetica"/>
              </a:rPr>
              <a:t>Parity with EN scoring, zero bias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892" y="2646680"/>
            <a:ext cx="336296" cy="18491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9360" y="2491740"/>
            <a:ext cx="5071364" cy="22453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700">
                <a:solidFill>
                  <a:srgbClr val="1F618D"/>
                </a:solidFill>
                <a:latin typeface="Helvetica"/>
              </a:rPr>
              <a:t>Zero-shot transfer is inaccurate and unfair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29360" y="2743200"/>
            <a:ext cx="3942080" cy="2113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600">
                <a:solidFill>
                  <a:srgbClr val="2C3E50"/>
                </a:solidFill>
                <a:latin typeface="Helvetica"/>
              </a:rPr>
              <a:t>EN-BERT-ZS: QWK = 0.541, 6/12 flags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29360" y="2946400"/>
            <a:ext cx="3096768" cy="2113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600">
                <a:solidFill>
                  <a:srgbClr val="2C3E50"/>
                </a:solidFill>
                <a:latin typeface="Helvetica"/>
              </a:rPr>
              <a:t>Unacceptable for deployment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892" y="3571240"/>
            <a:ext cx="336296" cy="18491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Helvetica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29360" y="3416300"/>
            <a:ext cx="5071364" cy="22453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700">
                <a:solidFill>
                  <a:srgbClr val="1F618D"/>
                </a:solidFill>
                <a:latin typeface="Helvetica"/>
              </a:rPr>
              <a:t>Rubric-prefix is highest-value intervention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29360" y="3667760"/>
            <a:ext cx="4153408" cy="2113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600">
                <a:solidFill>
                  <a:srgbClr val="2C3E50"/>
                </a:solidFill>
                <a:latin typeface="Helvetica"/>
              </a:rPr>
              <a:t>+2.2pp on argumentation-heavy prompts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9360" y="3870960"/>
            <a:ext cx="4259072" cy="2113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600">
                <a:solidFill>
                  <a:srgbClr val="2C3E50"/>
                </a:solidFill>
                <a:latin typeface="Helvetica"/>
              </a:rPr>
              <a:t>Low cost, high impact, prompt-agnostic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06740" y="967740"/>
            <a:ext cx="1366520" cy="22453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700">
                <a:solidFill>
                  <a:srgbClr val="FFFFFF"/>
                </a:solidFill>
                <a:latin typeface="Helvetica"/>
              </a:rPr>
              <a:t>Next Steps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44640" y="1617980"/>
            <a:ext cx="3724148" cy="22453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700">
                <a:solidFill>
                  <a:srgbClr val="2C3E50"/>
                </a:solidFill>
                <a:latin typeface="Helvetica"/>
              </a:rPr>
              <a:t>Complete P5–P8 zh-TW annotation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44640" y="1877060"/>
            <a:ext cx="4602480" cy="1981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500">
                <a:solidFill>
                  <a:srgbClr val="7F8C8D"/>
                </a:solidFill>
                <a:latin typeface="Helvetica"/>
              </a:rPr>
              <a:t>Budget approval pending · target: 2026-06-10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44640" y="2080260"/>
            <a:ext cx="3909060" cy="1981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500">
                <a:solidFill>
                  <a:srgbClr val="7F8C8D"/>
                </a:solidFill>
                <a:latin typeface="Helvetica"/>
              </a:rPr>
              <a:t>~400 additional zh-TW essays to label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44640" y="2613660"/>
            <a:ext cx="4622292" cy="22453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700">
                <a:solidFill>
                  <a:srgbClr val="2C3E50"/>
                </a:solidFill>
                <a:latin typeface="Helvetica"/>
              </a:rPr>
              <a:t>Contrastive-pair augmentation for P2/P7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44640" y="2872740"/>
            <a:ext cx="4602480" cy="1981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500">
                <a:solidFill>
                  <a:srgbClr val="7F8C8D"/>
                </a:solidFill>
                <a:latin typeface="Helvetica"/>
              </a:rPr>
              <a:t>Score-boundary confusion at levels 5→6, 9→10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44640" y="3075940"/>
            <a:ext cx="4701540" cy="1981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500">
                <a:solidFill>
                  <a:srgbClr val="7F8C8D"/>
                </a:solidFill>
                <a:latin typeface="Helvetica"/>
              </a:rPr>
              <a:t>Expected +1.5pp QWK on boundary-heavy prompts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44640" y="3609340"/>
            <a:ext cx="2152396" cy="22453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700">
                <a:solidFill>
                  <a:srgbClr val="2C3E50"/>
                </a:solidFill>
                <a:latin typeface="Helvetica"/>
              </a:rPr>
              <a:t>Begin paper draft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44640" y="3868420"/>
            <a:ext cx="4503420" cy="1981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500">
                <a:solidFill>
                  <a:srgbClr val="7F8C8D"/>
                </a:solidFill>
                <a:latin typeface="Helvetica"/>
              </a:rPr>
              <a:t>Fairness-aware cross-lingual ESAS framework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44640" y="4071620"/>
            <a:ext cx="4701540" cy="1981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500">
                <a:solidFill>
                  <a:srgbClr val="7F8C8D"/>
                </a:solidFill>
                <a:latin typeface="Helvetica"/>
              </a:rPr>
              <a:t>Target venue: ACL 2027 · deadline: 2026-09-15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46194" y="6027420"/>
            <a:ext cx="3499612" cy="22453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700">
                <a:solidFill>
                  <a:srgbClr val="FFFFFF"/>
                </a:solidFill>
                <a:latin typeface="Helvetica"/>
              </a:rPr>
              <a:t>Thank you — Questions Welcome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874008" y="6644640"/>
            <a:ext cx="4443984" cy="1584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200">
                <a:solidFill>
                  <a:srgbClr val="7F8C8D"/>
                </a:solidFill>
                <a:latin typeface="Helvetica"/>
              </a:rPr>
              <a:t>Cross-Lingual ESAS  ·  Weekly Progress  ·  2026-05-25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1F61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609600" y="487680"/>
            <a:ext cx="10972800" cy="0"/>
          </a:xfrm>
          <a:prstGeom prst="line">
            <a:avLst/>
          </a:prstGeom>
          <a:ln w="19050">
            <a:solidFill>
              <a:srgbClr val="D5DB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08000" y="741680"/>
            <a:ext cx="1930400" cy="487680"/>
          </a:xfrm>
          <a:prstGeom prst="rect">
            <a:avLst/>
          </a:prstGeom>
          <a:solidFill>
            <a:srgbClr val="F2F3F4"/>
          </a:solidFill>
          <a:ln w="1270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8000" y="1270000"/>
            <a:ext cx="1930400" cy="487680"/>
          </a:xfrm>
          <a:prstGeom prst="rect">
            <a:avLst/>
          </a:prstGeom>
          <a:solidFill>
            <a:srgbClr val="F2F3F4"/>
          </a:solidFill>
          <a:ln w="1270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661920" y="741680"/>
            <a:ext cx="1625600" cy="1016000"/>
          </a:xfrm>
          <a:prstGeom prst="rect">
            <a:avLst/>
          </a:prstGeom>
          <a:solidFill>
            <a:srgbClr val="F2F3F4"/>
          </a:solidFill>
          <a:ln w="1270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11040" y="741680"/>
            <a:ext cx="2489200" cy="1016000"/>
          </a:xfrm>
          <a:prstGeom prst="rect">
            <a:avLst/>
          </a:prstGeom>
          <a:solidFill>
            <a:srgbClr val="F2F3F4"/>
          </a:solidFill>
          <a:ln w="1270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223760" y="741680"/>
            <a:ext cx="1727200" cy="1016000"/>
          </a:xfrm>
          <a:prstGeom prst="rect">
            <a:avLst/>
          </a:prstGeom>
          <a:solidFill>
            <a:srgbClr val="F2F3F4"/>
          </a:solidFill>
          <a:ln w="1270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74480" y="741680"/>
            <a:ext cx="2235200" cy="1016000"/>
          </a:xfrm>
          <a:prstGeom prst="rect">
            <a:avLst/>
          </a:prstGeom>
          <a:solidFill>
            <a:srgbClr val="F2F3F4"/>
          </a:solidFill>
          <a:ln w="1270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>
            <a:stCxn id="5" idx="4"/>
            <a:endCxn id="7" idx="7"/>
          </p:cNvCxnSpPr>
          <p:nvPr/>
        </p:nvCxnSpPr>
        <p:spPr>
          <a:xfrm>
            <a:off x="2438400" y="1249680"/>
            <a:ext cx="203200" cy="0"/>
          </a:xfrm>
          <a:prstGeom prst="line">
            <a:avLst/>
          </a:prstGeom>
          <a:ln w="15875">
            <a:solidFill>
              <a:srgbClr val="7F8C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7" idx="3"/>
            <a:endCxn id="8" idx="7"/>
          </p:cNvCxnSpPr>
          <p:nvPr/>
        </p:nvCxnSpPr>
        <p:spPr>
          <a:xfrm>
            <a:off x="4287520" y="1249680"/>
            <a:ext cx="203200" cy="0"/>
          </a:xfrm>
          <a:prstGeom prst="line">
            <a:avLst/>
          </a:prstGeom>
          <a:ln w="15875">
            <a:solidFill>
              <a:srgbClr val="7F8C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stCxn id="8" idx="3"/>
            <a:endCxn id="9" idx="7"/>
          </p:cNvCxnSpPr>
          <p:nvPr/>
        </p:nvCxnSpPr>
        <p:spPr>
          <a:xfrm>
            <a:off x="7000240" y="1249680"/>
            <a:ext cx="203200" cy="0"/>
          </a:xfrm>
          <a:prstGeom prst="line">
            <a:avLst/>
          </a:prstGeom>
          <a:ln w="15875">
            <a:solidFill>
              <a:srgbClr val="7F8C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>
            <a:stCxn id="9" idx="3"/>
            <a:endCxn id="10" idx="7"/>
          </p:cNvCxnSpPr>
          <p:nvPr/>
        </p:nvCxnSpPr>
        <p:spPr>
          <a:xfrm>
            <a:off x="8950960" y="1249680"/>
            <a:ext cx="203200" cy="0"/>
          </a:xfrm>
          <a:prstGeom prst="line">
            <a:avLst/>
          </a:prstGeom>
          <a:ln w="15875">
            <a:solidFill>
              <a:srgbClr val="7F8C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661920" y="2032000"/>
            <a:ext cx="16256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>
            <a:stCxn id="15" idx="1"/>
            <a:endCxn id="7" idx="5"/>
          </p:cNvCxnSpPr>
          <p:nvPr/>
        </p:nvCxnSpPr>
        <p:spPr>
          <a:xfrm flipV="1">
            <a:off x="3474720" y="1778000"/>
            <a:ext cx="0" cy="254000"/>
          </a:xfrm>
          <a:prstGeom prst="line">
            <a:avLst/>
          </a:prstGeom>
          <a:ln w="12700">
            <a:solidFill>
              <a:srgbClr val="7F8C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438400" y="1513840"/>
            <a:ext cx="142240" cy="0"/>
          </a:xfrm>
          <a:prstGeom prst="line">
            <a:avLst/>
          </a:prstGeom>
          <a:ln w="12700">
            <a:solidFill>
              <a:srgbClr val="B0B8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580640" y="1513840"/>
            <a:ext cx="0" cy="883920"/>
          </a:xfrm>
          <a:prstGeom prst="line">
            <a:avLst/>
          </a:prstGeom>
          <a:ln w="12700">
            <a:solidFill>
              <a:srgbClr val="B0B8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580640" y="2397760"/>
            <a:ext cx="81280" cy="0"/>
          </a:xfrm>
          <a:prstGeom prst="line">
            <a:avLst/>
          </a:prstGeom>
          <a:ln w="12700">
            <a:solidFill>
              <a:srgbClr val="B0B8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508000" y="3048000"/>
            <a:ext cx="3352800" cy="1066800"/>
          </a:xfrm>
          <a:prstGeom prst="rect">
            <a:avLst/>
          </a:prstGeom>
          <a:solidFill>
            <a:srgbClr val="F2F3F4"/>
          </a:solidFill>
          <a:ln w="1270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64000" y="3048000"/>
            <a:ext cx="3352800" cy="1066800"/>
          </a:xfrm>
          <a:prstGeom prst="rect">
            <a:avLst/>
          </a:prstGeom>
          <a:solidFill>
            <a:srgbClr val="F2F3F4"/>
          </a:solidFill>
          <a:ln w="1270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20000" y="3048000"/>
            <a:ext cx="4064000" cy="1066800"/>
          </a:xfrm>
          <a:prstGeom prst="rect">
            <a:avLst/>
          </a:prstGeom>
          <a:solidFill>
            <a:srgbClr val="F2F3F4"/>
          </a:solidFill>
          <a:ln w="1270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8000" y="4216400"/>
            <a:ext cx="3332480" cy="914400"/>
          </a:xfrm>
          <a:prstGeom prst="rect">
            <a:avLst/>
          </a:prstGeom>
          <a:solidFill>
            <a:srgbClr val="F2F3F4"/>
          </a:solidFill>
          <a:ln w="1270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8000" y="4216400"/>
            <a:ext cx="60960" cy="914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064000" y="4216400"/>
            <a:ext cx="3332480" cy="914400"/>
          </a:xfrm>
          <a:prstGeom prst="rect">
            <a:avLst/>
          </a:prstGeom>
          <a:solidFill>
            <a:srgbClr val="F2F3F4"/>
          </a:solidFill>
          <a:ln w="1270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064000" y="4216400"/>
            <a:ext cx="60960" cy="914400"/>
          </a:xfrm>
          <a:prstGeom prst="rect">
            <a:avLst/>
          </a:prstGeom>
          <a:solidFill>
            <a:srgbClr val="D68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620000" y="4216400"/>
            <a:ext cx="4064000" cy="914400"/>
          </a:xfrm>
          <a:prstGeom prst="rect">
            <a:avLst/>
          </a:prstGeom>
          <a:solidFill>
            <a:srgbClr val="F2F3F4"/>
          </a:solidFill>
          <a:ln w="19050">
            <a:solidFill>
              <a:srgbClr val="1E8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620000" y="4216400"/>
            <a:ext cx="60960" cy="914400"/>
          </a:xfrm>
          <a:prstGeom prst="rect">
            <a:avLst/>
          </a:prstGeom>
          <a:solidFill>
            <a:srgbClr val="1E8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0" y="6583680"/>
            <a:ext cx="12192000" cy="0"/>
          </a:xfrm>
          <a:prstGeom prst="line">
            <a:avLst/>
          </a:prstGeom>
          <a:ln w="9525">
            <a:solidFill>
              <a:srgbClr val="D5DB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09600" y="177800"/>
            <a:ext cx="9542272" cy="29057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2200" b="1">
                <a:solidFill>
                  <a:srgbClr val="1F618D"/>
                </a:solidFill>
                <a:latin typeface="Helvetica"/>
              </a:rPr>
              <a:t>Fig. 1  —  ZH-BERT-FT System Architecture for Cross-Lingual ESAS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382" y="556260"/>
            <a:ext cx="897636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100" i="1">
                <a:solidFill>
                  <a:srgbClr val="7F8C8D"/>
                </a:solidFill>
                <a:latin typeface="Helvetica"/>
              </a:rPr>
              <a:t>(a) Input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71648" y="556260"/>
            <a:ext cx="1406144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100" i="1">
                <a:solidFill>
                  <a:srgbClr val="7F8C8D"/>
                </a:solidFill>
                <a:latin typeface="Helvetica"/>
              </a:rPr>
              <a:t>(b) Tokenisation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39258" y="556260"/>
            <a:ext cx="1042924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100" i="1">
                <a:solidFill>
                  <a:srgbClr val="7F8C8D"/>
                </a:solidFill>
                <a:latin typeface="Helvetica"/>
              </a:rPr>
              <a:t>(c) Encoder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65898" y="556260"/>
            <a:ext cx="1042924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100" i="1">
                <a:solidFill>
                  <a:srgbClr val="7F8C8D"/>
                </a:solidFill>
                <a:latin typeface="Helvetica"/>
              </a:rPr>
              <a:t>(d) Scoring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06940" y="556260"/>
            <a:ext cx="970280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100" i="1">
                <a:solidFill>
                  <a:srgbClr val="7F8C8D"/>
                </a:solidFill>
                <a:latin typeface="Helvetica"/>
              </a:rPr>
              <a:t>(e) Output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5686" y="927100"/>
            <a:ext cx="1875028" cy="17170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300">
                <a:solidFill>
                  <a:srgbClr val="2C3E50"/>
                </a:solidFill>
                <a:latin typeface="Helvetica"/>
              </a:rPr>
              <a:t>zh-TW Student Essay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9834" y="1455420"/>
            <a:ext cx="2046732" cy="17170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300">
                <a:solidFill>
                  <a:srgbClr val="2C3E50"/>
                </a:solidFill>
                <a:latin typeface="Helvetica"/>
              </a:rPr>
              <a:t>Rubric Prompt (P1–P8)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23058" y="967740"/>
            <a:ext cx="1703324" cy="17170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300">
                <a:solidFill>
                  <a:srgbClr val="2C3E50"/>
                </a:solidFill>
                <a:latin typeface="Helvetica"/>
              </a:rPr>
              <a:t>bert-base-chinese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66466" y="1130300"/>
            <a:ext cx="1016508" cy="17170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300">
                <a:solidFill>
                  <a:srgbClr val="2C3E50"/>
                </a:solidFill>
                <a:latin typeface="Helvetica"/>
              </a:rPr>
              <a:t>Tokenizer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80614" y="1318260"/>
            <a:ext cx="1188212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100">
                <a:solidFill>
                  <a:srgbClr val="7F8C8D"/>
                </a:solidFill>
                <a:latin typeface="Helvetica"/>
              </a:rPr>
              <a:t>[CLS] · [SEP]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80614" y="1480820"/>
            <a:ext cx="1188212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100">
                <a:solidFill>
                  <a:srgbClr val="7F8C8D"/>
                </a:solidFill>
                <a:latin typeface="Helvetica"/>
              </a:rPr>
              <a:t>max-seq = 256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23206" y="967740"/>
            <a:ext cx="1875028" cy="17170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300">
                <a:solidFill>
                  <a:srgbClr val="2C3E50"/>
                </a:solidFill>
                <a:latin typeface="Helvetica"/>
              </a:rPr>
              <a:t>Transformer Encoder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22724" y="1130300"/>
            <a:ext cx="2475992" cy="17170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300">
                <a:solidFill>
                  <a:srgbClr val="2C3E50"/>
                </a:solidFill>
                <a:latin typeface="Helvetica"/>
              </a:rPr>
              <a:t>12 layers × 768 hidden dim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12818" y="1318260"/>
            <a:ext cx="2495804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100">
                <a:solidFill>
                  <a:srgbClr val="7F8C8D"/>
                </a:solidFill>
                <a:latin typeface="Helvetica"/>
              </a:rPr>
              <a:t>bert-base-chinese (pre-trained)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76496" y="1480820"/>
            <a:ext cx="2568448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100">
                <a:solidFill>
                  <a:srgbClr val="7F8C8D"/>
                </a:solidFill>
                <a:latin typeface="Helvetica"/>
              </a:rPr>
              <a:t>[CLS] token → final hidden state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21550" y="967740"/>
            <a:ext cx="1531620" cy="17170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300">
                <a:solidFill>
                  <a:srgbClr val="2C3E50"/>
                </a:solidFill>
                <a:latin typeface="Helvetica"/>
              </a:rPr>
              <a:t>Regression Head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07402" y="1130300"/>
            <a:ext cx="1359916" cy="17170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300">
                <a:solidFill>
                  <a:srgbClr val="2C3E50"/>
                </a:solidFill>
                <a:latin typeface="Helvetica"/>
              </a:rPr>
              <a:t>Dense (768→1)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74864" y="1318260"/>
            <a:ext cx="824992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100">
                <a:solidFill>
                  <a:srgbClr val="7F8C8D"/>
                </a:solidFill>
                <a:latin typeface="Helvetica"/>
              </a:rPr>
              <a:t>QWK loss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02678" y="1480820"/>
            <a:ext cx="1769364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100">
                <a:solidFill>
                  <a:srgbClr val="7F8C8D"/>
                </a:solidFill>
                <a:latin typeface="Helvetica"/>
              </a:rPr>
              <a:t>soft-label regression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483344" y="967740"/>
            <a:ext cx="1617472" cy="17170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300">
                <a:solidFill>
                  <a:srgbClr val="2C3E50"/>
                </a:solidFill>
                <a:latin typeface="Helvetica"/>
              </a:rPr>
              <a:t>Score ŷ ∈ [0, 3]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83344" y="1130300"/>
            <a:ext cx="1617472" cy="17170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300">
                <a:solidFill>
                  <a:srgbClr val="2C3E50"/>
                </a:solidFill>
                <a:latin typeface="Helvetica"/>
              </a:rPr>
              <a:t>Per-prompt model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07398" y="1318260"/>
            <a:ext cx="1769364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100">
                <a:solidFill>
                  <a:srgbClr val="7F8C8D"/>
                </a:solidFill>
                <a:latin typeface="Helvetica"/>
              </a:rPr>
              <a:t>(P1–P8 independently)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80042" y="1480820"/>
            <a:ext cx="1624076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100">
                <a:solidFill>
                  <a:srgbClr val="1E8449"/>
                </a:solidFill>
                <a:latin typeface="Helvetica"/>
              </a:rPr>
              <a:t>QWK (zh-TW) = 0.811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662682" y="2202180"/>
            <a:ext cx="1624076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100">
                <a:solidFill>
                  <a:srgbClr val="2C3E50"/>
                </a:solidFill>
                <a:latin typeface="Helvetica"/>
              </a:rPr>
              <a:t>[SEP] concatenation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590038" y="2374900"/>
            <a:ext cx="1769364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100">
                <a:solidFill>
                  <a:srgbClr val="7F8C8D"/>
                </a:solidFill>
                <a:latin typeface="Helvetica"/>
              </a:rPr>
              <a:t>rubric text prepended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626360" y="2547620"/>
            <a:ext cx="1696720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100">
                <a:solidFill>
                  <a:srgbClr val="7F8C8D"/>
                </a:solidFill>
                <a:latin typeface="Helvetica"/>
              </a:rPr>
              <a:t>before student essay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470400" y="2151380"/>
            <a:ext cx="3512820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100" i="1">
                <a:solidFill>
                  <a:srgbClr val="D68910"/>
                </a:solidFill>
                <a:latin typeface="Helvetica"/>
              </a:rPr>
              <a:t>+2.2 pp QWK on argumentation prompts (P2, P7)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70400" y="2324100"/>
            <a:ext cx="2641092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100" i="1">
                <a:solidFill>
                  <a:srgbClr val="D68910"/>
                </a:solidFill>
                <a:latin typeface="Helvetica"/>
              </a:rPr>
              <a:t>vs. no rubric-prefix conditioning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09600" y="3152140"/>
            <a:ext cx="1617472" cy="17170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300" b="1">
                <a:solidFill>
                  <a:srgbClr val="1F618D"/>
                </a:solidFill>
                <a:latin typeface="Helvetica"/>
              </a:rPr>
              <a:t>Evaluation — QWK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09600" y="3350260"/>
            <a:ext cx="3004312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100">
                <a:solidFill>
                  <a:srgbClr val="1E8449"/>
                </a:solidFill>
                <a:latin typeface="Helvetica"/>
              </a:rPr>
              <a:t>EN: 0.828   zh-TW: 0.811   Gap: −0.017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09600" y="3522980"/>
            <a:ext cx="2859024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100">
                <a:solidFill>
                  <a:srgbClr val="7F8C8D"/>
                </a:solidFill>
                <a:latin typeface="Helvetica"/>
              </a:rPr>
              <a:t>test set · prompts P1–P4 · macro-avg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9600" y="3695700"/>
            <a:ext cx="2641092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100">
                <a:solidFill>
                  <a:srgbClr val="7F8C8D"/>
                </a:solidFill>
                <a:latin typeface="Helvetica"/>
              </a:rPr>
              <a:t>gap within annotation noise level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9600" y="3876040"/>
            <a:ext cx="2026920" cy="1320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000" i="1">
                <a:solidFill>
                  <a:srgbClr val="7F8C8D"/>
                </a:solidFill>
                <a:latin typeface="Helvetica"/>
              </a:rPr>
              <a:t>3–5 random seeds per prompt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165600" y="3152140"/>
            <a:ext cx="2991104" cy="17170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300" b="1">
                <a:solidFill>
                  <a:srgbClr val="1F618D"/>
                </a:solidFill>
                <a:latin typeface="Helvetica"/>
              </a:rPr>
              <a:t>Fairness — DIF (Mantel-Haenszel)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165600" y="3350260"/>
            <a:ext cx="2786380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100">
                <a:solidFill>
                  <a:srgbClr val="1E8449"/>
                </a:solidFill>
                <a:latin typeface="Helvetica"/>
              </a:rPr>
              <a:t>ZH-BERT-FT: 0/12   EN-BERT-ZS: 6/12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165600" y="3522980"/>
            <a:ext cx="2786380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100">
                <a:solidFill>
                  <a:srgbClr val="7F8C8D"/>
                </a:solidFill>
                <a:latin typeface="Helvetica"/>
              </a:rPr>
              <a:t>12 score levels · p &lt; .05 threshold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65600" y="3695700"/>
            <a:ext cx="2350516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100">
                <a:solidFill>
                  <a:srgbClr val="7F8C8D"/>
                </a:solidFill>
                <a:latin typeface="Helvetica"/>
              </a:rPr>
              <a:t>EN vs. zh-TW group comparison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165600" y="3868420"/>
            <a:ext cx="2495804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100">
                <a:solidFill>
                  <a:srgbClr val="1E8449"/>
                </a:solidFill>
                <a:latin typeface="Helvetica"/>
              </a:rPr>
              <a:t>Zero systematic bias detected ✓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721600" y="3152140"/>
            <a:ext cx="2132584" cy="17170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300" b="1">
                <a:solidFill>
                  <a:srgbClr val="1F618D"/>
                </a:solidFill>
                <a:latin typeface="Helvetica"/>
              </a:rPr>
              <a:t>Training Configuration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721600" y="3350260"/>
            <a:ext cx="3294888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100">
                <a:solidFill>
                  <a:srgbClr val="2C3E50"/>
                </a:solidFill>
                <a:latin typeface="Helvetica"/>
              </a:rPr>
              <a:t>LR = 2×10⁻⁵  ·  batch = 16  ·  epochs = 10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721600" y="3522980"/>
            <a:ext cx="3149600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100">
                <a:solidFill>
                  <a:srgbClr val="2C3E50"/>
                </a:solidFill>
                <a:latin typeface="Helvetica"/>
              </a:rPr>
              <a:t>max-seq = 256  ·  QWK loss (soft labels)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721600" y="3695700"/>
            <a:ext cx="3294888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100">
                <a:solidFill>
                  <a:srgbClr val="2C3E50"/>
                </a:solidFill>
                <a:latin typeface="Helvetica"/>
              </a:rPr>
              <a:t>60/20/20 train/val/test split (per prompt)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721600" y="3876040"/>
            <a:ext cx="2357120" cy="1320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000" i="1">
                <a:solidFill>
                  <a:srgbClr val="7F8C8D"/>
                </a:solidFill>
                <a:latin typeface="Helvetica"/>
              </a:rPr>
              <a:t>early stopping on validation QWK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90880" y="4330700"/>
            <a:ext cx="2475992" cy="17170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300" b="1">
                <a:solidFill>
                  <a:srgbClr val="2C3E50"/>
                </a:solidFill>
                <a:latin typeface="Helvetica"/>
              </a:rPr>
              <a:t>Phase 1: EN-BERT Zero-Shot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0880" y="4528820"/>
            <a:ext cx="3076956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100">
                <a:solidFill>
                  <a:srgbClr val="2C3E50"/>
                </a:solidFill>
                <a:latin typeface="Helvetica"/>
              </a:rPr>
              <a:t>QWK (zh-TW) = 0.541  ·  DIF: 6/12 flags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90880" y="4691380"/>
            <a:ext cx="3149600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100">
                <a:solidFill>
                  <a:srgbClr val="C0392B"/>
                </a:solidFill>
                <a:latin typeface="Helvetica"/>
              </a:rPr>
              <a:t>Insufficient — substantial bias detected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90880" y="4861560"/>
            <a:ext cx="1036320" cy="1320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000">
                <a:solidFill>
                  <a:srgbClr val="7F8C8D"/>
                </a:solidFill>
                <a:latin typeface="Helvetica"/>
              </a:rPr>
              <a:t>May 10, 2026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246880" y="4330700"/>
            <a:ext cx="2905252" cy="17170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300" b="1">
                <a:solidFill>
                  <a:srgbClr val="2C3E50"/>
                </a:solidFill>
                <a:latin typeface="Helvetica"/>
              </a:rPr>
              <a:t>Phase 2: mBERT + MT Translation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246880" y="4528820"/>
            <a:ext cx="3076956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100">
                <a:solidFill>
                  <a:srgbClr val="2C3E50"/>
                </a:solidFill>
                <a:latin typeface="Helvetica"/>
              </a:rPr>
              <a:t>QWK (zh-TW) = 0.784  ·  DIF: 2/12 flags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246880" y="4691380"/>
            <a:ext cx="2786380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100">
                <a:solidFill>
                  <a:srgbClr val="D68910"/>
                </a:solidFill>
                <a:latin typeface="Helvetica"/>
              </a:rPr>
              <a:t>Partial — residual bias on 2 levels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46880" y="4861560"/>
            <a:ext cx="1036320" cy="1320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000">
                <a:solidFill>
                  <a:srgbClr val="7F8C8D"/>
                </a:solidFill>
                <a:latin typeface="Helvetica"/>
              </a:rPr>
              <a:t>May 18, 2026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802880" y="4330700"/>
            <a:ext cx="3334512" cy="17170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300" b="1">
                <a:solidFill>
                  <a:srgbClr val="2C3E50"/>
                </a:solidFill>
                <a:latin typeface="Helvetica"/>
              </a:rPr>
              <a:t>Phase 3: ZH-BERT Language-Matched  ★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802880" y="4528820"/>
            <a:ext cx="3076956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100">
                <a:solidFill>
                  <a:srgbClr val="1E8449"/>
                </a:solidFill>
                <a:latin typeface="Helvetica"/>
              </a:rPr>
              <a:t>QWK (zh-TW) = 0.811  ·  DIF: 0/12 flags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802880" y="4691380"/>
            <a:ext cx="3222244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100">
                <a:solidFill>
                  <a:srgbClr val="1E8449"/>
                </a:solidFill>
                <a:latin typeface="Helvetica"/>
              </a:rPr>
              <a:t>Production candidate — zero bias detected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802880" y="4861560"/>
            <a:ext cx="1036320" cy="1320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000">
                <a:solidFill>
                  <a:srgbClr val="7F8C8D"/>
                </a:solidFill>
                <a:latin typeface="Helvetica"/>
              </a:rPr>
              <a:t>May 25, 2026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09600" y="5237480"/>
            <a:ext cx="9687560" cy="1320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000" i="1">
                <a:solidFill>
                  <a:srgbClr val="7F8C8D"/>
                </a:solidFill>
                <a:latin typeface="Helvetica"/>
              </a:rPr>
              <a:t>Note.  Transformer weights from bert-base-chinese; one model trained per prompt (P1–P8); rubric text prepended at tokenisation via [SEP] token.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049014" y="6631940"/>
            <a:ext cx="4093972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100">
                <a:solidFill>
                  <a:srgbClr val="7F8C8D"/>
                </a:solidFill>
                <a:latin typeface="Helvetica"/>
              </a:rPr>
              <a:t>Cross-Lingual ESAS  ·  Weekly Progress  ·  2026-05-25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1F61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609600" y="487680"/>
            <a:ext cx="10972800" cy="0"/>
          </a:xfrm>
          <a:prstGeom prst="line">
            <a:avLst/>
          </a:prstGeom>
          <a:ln w="19050">
            <a:solidFill>
              <a:srgbClr val="D5DB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624320" y="568960"/>
            <a:ext cx="0" cy="5699760"/>
          </a:xfrm>
          <a:prstGeom prst="line">
            <a:avLst/>
          </a:prstGeom>
          <a:ln w="9525">
            <a:solidFill>
              <a:srgbClr val="D5DB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3251200" y="609600"/>
            <a:ext cx="2032000" cy="447040"/>
          </a:xfrm>
          <a:custGeom>
            <a:avLst/>
            <a:gdLst/>
            <a:ahLst/>
            <a:cxnLst/>
            <a:rect l="0" t="0" r="r" b="b"/>
            <a:pathLst>
              <a:path w="2032000" h="447040">
                <a:moveTo>
                  <a:pt x="223520" y="0"/>
                </a:moveTo>
                <a:lnTo>
                  <a:pt x="1808480" y="0"/>
                </a:lnTo>
                <a:cubicBezTo>
                  <a:pt x="1931927" y="0"/>
                  <a:pt x="2032000" y="100073"/>
                  <a:pt x="2032000" y="223520"/>
                </a:cubicBezTo>
                <a:cubicBezTo>
                  <a:pt x="2032000" y="346967"/>
                  <a:pt x="1931927" y="447040"/>
                  <a:pt x="1808480" y="447040"/>
                </a:cubicBezTo>
                <a:lnTo>
                  <a:pt x="223520" y="447040"/>
                </a:lnTo>
                <a:cubicBezTo>
                  <a:pt x="100073" y="447040"/>
                  <a:pt x="0" y="346967"/>
                  <a:pt x="0" y="223520"/>
                </a:cubicBezTo>
                <a:cubicBezTo>
                  <a:pt x="0" y="100073"/>
                  <a:pt x="100073" y="0"/>
                  <a:pt x="223520" y="0"/>
                </a:cubicBezTo>
                <a:close/>
              </a:path>
            </a:pathLst>
          </a:custGeom>
          <a:solidFill>
            <a:srgbClr val="1F618D"/>
          </a:solidFill>
          <a:ln w="19050">
            <a:solidFill>
              <a:srgbClr val="1F61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>
            <a:endCxn id="8" idx="1"/>
          </p:cNvCxnSpPr>
          <p:nvPr/>
        </p:nvCxnSpPr>
        <p:spPr>
          <a:xfrm>
            <a:off x="4267200" y="1056640"/>
            <a:ext cx="0" cy="314960"/>
          </a:xfrm>
          <a:prstGeom prst="line">
            <a:avLst/>
          </a:prstGeom>
          <a:ln w="15875">
            <a:solidFill>
              <a:srgbClr val="7F8C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048000" y="1381760"/>
            <a:ext cx="2438400" cy="528320"/>
          </a:xfrm>
          <a:prstGeom prst="rect">
            <a:avLst/>
          </a:prstGeom>
          <a:solidFill>
            <a:srgbClr val="F2F3F4"/>
          </a:solidFill>
          <a:ln w="1270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>
            <a:stCxn id="8" idx="5"/>
            <a:endCxn id="10" idx="1"/>
          </p:cNvCxnSpPr>
          <p:nvPr/>
        </p:nvCxnSpPr>
        <p:spPr>
          <a:xfrm>
            <a:off x="4267200" y="1910080"/>
            <a:ext cx="0" cy="314960"/>
          </a:xfrm>
          <a:prstGeom prst="line">
            <a:avLst/>
          </a:prstGeom>
          <a:ln w="15875">
            <a:solidFill>
              <a:srgbClr val="7F8C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3048000" y="2235200"/>
            <a:ext cx="2438400" cy="528320"/>
          </a:xfrm>
          <a:prstGeom prst="rect">
            <a:avLst/>
          </a:prstGeom>
          <a:solidFill>
            <a:srgbClr val="F2F3F4"/>
          </a:solidFill>
          <a:ln w="1270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>
            <a:stCxn id="10" idx="5"/>
          </p:cNvCxnSpPr>
          <p:nvPr/>
        </p:nvCxnSpPr>
        <p:spPr>
          <a:xfrm>
            <a:off x="4267200" y="2763520"/>
            <a:ext cx="0" cy="274320"/>
          </a:xfrm>
          <a:prstGeom prst="line">
            <a:avLst/>
          </a:prstGeom>
          <a:ln w="15875">
            <a:solidFill>
              <a:srgbClr val="7F8C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2946400" y="3037840"/>
            <a:ext cx="2641600" cy="609600"/>
          </a:xfrm>
          <a:custGeom>
            <a:avLst/>
            <a:gdLst/>
            <a:ahLst/>
            <a:cxnLst/>
            <a:rect l="0" t="0" r="r" b="b"/>
            <a:pathLst>
              <a:path w="2641600" h="609600">
                <a:moveTo>
                  <a:pt x="1320800" y="0"/>
                </a:moveTo>
                <a:lnTo>
                  <a:pt x="2641600" y="304800"/>
                </a:lnTo>
                <a:lnTo>
                  <a:pt x="1320800" y="609600"/>
                </a:lnTo>
                <a:lnTo>
                  <a:pt x="0" y="304800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67200" y="3647440"/>
            <a:ext cx="0" cy="274320"/>
          </a:xfrm>
          <a:prstGeom prst="line">
            <a:avLst/>
          </a:prstGeom>
          <a:ln w="15875">
            <a:solidFill>
              <a:srgbClr val="1E8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2336800" y="3342640"/>
            <a:ext cx="609600" cy="0"/>
          </a:xfrm>
          <a:prstGeom prst="line">
            <a:avLst/>
          </a:prstGeom>
          <a:ln w="1270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2336800" y="2499360"/>
            <a:ext cx="0" cy="843280"/>
          </a:xfrm>
          <a:prstGeom prst="line">
            <a:avLst/>
          </a:prstGeom>
          <a:ln w="1270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endCxn id="10" idx="7"/>
          </p:cNvCxnSpPr>
          <p:nvPr/>
        </p:nvCxnSpPr>
        <p:spPr>
          <a:xfrm>
            <a:off x="2336800" y="2499360"/>
            <a:ext cx="701040" cy="0"/>
          </a:xfrm>
          <a:prstGeom prst="line">
            <a:avLst/>
          </a:prstGeom>
          <a:ln w="1270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2946400" y="3921760"/>
            <a:ext cx="2641600" cy="609600"/>
          </a:xfrm>
          <a:custGeom>
            <a:avLst/>
            <a:gdLst/>
            <a:ahLst/>
            <a:cxnLst/>
            <a:rect l="0" t="0" r="r" b="b"/>
            <a:pathLst>
              <a:path w="2641600" h="609600">
                <a:moveTo>
                  <a:pt x="1320800" y="0"/>
                </a:moveTo>
                <a:lnTo>
                  <a:pt x="2641600" y="304800"/>
                </a:lnTo>
                <a:lnTo>
                  <a:pt x="1320800" y="609600"/>
                </a:lnTo>
                <a:lnTo>
                  <a:pt x="0" y="304800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>
            <a:endCxn id="22" idx="1"/>
          </p:cNvCxnSpPr>
          <p:nvPr/>
        </p:nvCxnSpPr>
        <p:spPr>
          <a:xfrm>
            <a:off x="4267200" y="4531360"/>
            <a:ext cx="0" cy="274320"/>
          </a:xfrm>
          <a:prstGeom prst="line">
            <a:avLst/>
          </a:prstGeom>
          <a:ln w="15875">
            <a:solidFill>
              <a:srgbClr val="1E8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588000" y="4226560"/>
            <a:ext cx="650240" cy="0"/>
          </a:xfrm>
          <a:prstGeom prst="line">
            <a:avLst/>
          </a:prstGeom>
          <a:ln w="1270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6238240" y="2499360"/>
            <a:ext cx="0" cy="1727200"/>
          </a:xfrm>
          <a:prstGeom prst="line">
            <a:avLst/>
          </a:prstGeom>
          <a:ln w="1270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endCxn id="10" idx="3"/>
          </p:cNvCxnSpPr>
          <p:nvPr/>
        </p:nvCxnSpPr>
        <p:spPr>
          <a:xfrm flipH="1">
            <a:off x="5496560" y="2499360"/>
            <a:ext cx="741680" cy="0"/>
          </a:xfrm>
          <a:prstGeom prst="line">
            <a:avLst/>
          </a:prstGeom>
          <a:ln w="1270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048000" y="4815840"/>
            <a:ext cx="2438400" cy="528320"/>
          </a:xfrm>
          <a:prstGeom prst="rect">
            <a:avLst/>
          </a:prstGeom>
          <a:solidFill>
            <a:srgbClr val="F2F3F4"/>
          </a:solidFill>
          <a:ln w="1270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>
            <a:stCxn id="22" idx="5"/>
          </p:cNvCxnSpPr>
          <p:nvPr/>
        </p:nvCxnSpPr>
        <p:spPr>
          <a:xfrm>
            <a:off x="4267200" y="5344160"/>
            <a:ext cx="0" cy="314960"/>
          </a:xfrm>
          <a:prstGeom prst="line">
            <a:avLst/>
          </a:prstGeom>
          <a:ln w="15875">
            <a:solidFill>
              <a:srgbClr val="1E8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251200" y="5669280"/>
            <a:ext cx="2032000" cy="447040"/>
          </a:xfrm>
          <a:custGeom>
            <a:avLst/>
            <a:gdLst/>
            <a:ahLst/>
            <a:cxnLst/>
            <a:rect l="0" t="0" r="r" b="b"/>
            <a:pathLst>
              <a:path w="2032000" h="447040">
                <a:moveTo>
                  <a:pt x="223520" y="0"/>
                </a:moveTo>
                <a:lnTo>
                  <a:pt x="1808480" y="0"/>
                </a:lnTo>
                <a:cubicBezTo>
                  <a:pt x="1931927" y="0"/>
                  <a:pt x="2032000" y="100073"/>
                  <a:pt x="2032000" y="223520"/>
                </a:cubicBezTo>
                <a:cubicBezTo>
                  <a:pt x="2032000" y="346967"/>
                  <a:pt x="1931927" y="447040"/>
                  <a:pt x="1808480" y="447040"/>
                </a:cubicBezTo>
                <a:lnTo>
                  <a:pt x="223520" y="447040"/>
                </a:lnTo>
                <a:cubicBezTo>
                  <a:pt x="100073" y="447040"/>
                  <a:pt x="0" y="346967"/>
                  <a:pt x="0" y="223520"/>
                </a:cubicBezTo>
                <a:cubicBezTo>
                  <a:pt x="0" y="100073"/>
                  <a:pt x="100073" y="0"/>
                  <a:pt x="223520" y="0"/>
                </a:cubicBezTo>
                <a:close/>
              </a:path>
            </a:pathLst>
          </a:custGeom>
          <a:solidFill>
            <a:srgbClr val="1E8449"/>
          </a:solidFill>
          <a:ln w="19050">
            <a:solidFill>
              <a:srgbClr val="1E8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07200" y="629920"/>
            <a:ext cx="4876800" cy="406400"/>
          </a:xfrm>
          <a:prstGeom prst="rect">
            <a:avLst/>
          </a:prstGeom>
          <a:solidFill>
            <a:srgbClr val="F2F3F4"/>
          </a:solidFill>
          <a:ln w="9525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>
            <a:endCxn id="25" idx="7"/>
          </p:cNvCxnSpPr>
          <p:nvPr/>
        </p:nvCxnSpPr>
        <p:spPr>
          <a:xfrm>
            <a:off x="5283200" y="833120"/>
            <a:ext cx="1503680" cy="0"/>
          </a:xfrm>
          <a:prstGeom prst="line">
            <a:avLst/>
          </a:prstGeom>
          <a:ln w="9525">
            <a:solidFill>
              <a:srgbClr val="D5DB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6807200" y="1402080"/>
            <a:ext cx="4876800" cy="528320"/>
          </a:xfrm>
          <a:prstGeom prst="rect">
            <a:avLst/>
          </a:prstGeom>
          <a:solidFill>
            <a:srgbClr val="F2F3F4"/>
          </a:solidFill>
          <a:ln w="9525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>
            <a:stCxn id="8" idx="3"/>
            <a:endCxn id="27" idx="7"/>
          </p:cNvCxnSpPr>
          <p:nvPr/>
        </p:nvCxnSpPr>
        <p:spPr>
          <a:xfrm>
            <a:off x="5486400" y="1645920"/>
            <a:ext cx="1300480" cy="0"/>
          </a:xfrm>
          <a:prstGeom prst="line">
            <a:avLst/>
          </a:prstGeom>
          <a:ln w="9525">
            <a:solidFill>
              <a:srgbClr val="D5DB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6807200" y="2255520"/>
            <a:ext cx="4876800" cy="528320"/>
          </a:xfrm>
          <a:prstGeom prst="rect">
            <a:avLst/>
          </a:prstGeom>
          <a:solidFill>
            <a:srgbClr val="F2F3F4"/>
          </a:solidFill>
          <a:ln w="9525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>
            <a:stCxn id="10" idx="3"/>
            <a:endCxn id="29" idx="7"/>
          </p:cNvCxnSpPr>
          <p:nvPr/>
        </p:nvCxnSpPr>
        <p:spPr>
          <a:xfrm>
            <a:off x="5486400" y="2499360"/>
            <a:ext cx="1300480" cy="0"/>
          </a:xfrm>
          <a:prstGeom prst="line">
            <a:avLst/>
          </a:prstGeom>
          <a:ln w="9525">
            <a:solidFill>
              <a:srgbClr val="D5DB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807200" y="3098800"/>
            <a:ext cx="4876800" cy="548640"/>
          </a:xfrm>
          <a:prstGeom prst="rect">
            <a:avLst/>
          </a:prstGeom>
          <a:solidFill>
            <a:srgbClr val="F2F3F4"/>
          </a:solidFill>
          <a:ln w="9525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>
            <a:endCxn id="31" idx="7"/>
          </p:cNvCxnSpPr>
          <p:nvPr/>
        </p:nvCxnSpPr>
        <p:spPr>
          <a:xfrm>
            <a:off x="5588000" y="3342640"/>
            <a:ext cx="1198880" cy="0"/>
          </a:xfrm>
          <a:prstGeom prst="line">
            <a:avLst/>
          </a:prstGeom>
          <a:ln w="9525">
            <a:solidFill>
              <a:srgbClr val="D5DB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6807200" y="3962400"/>
            <a:ext cx="4876800" cy="548640"/>
          </a:xfrm>
          <a:prstGeom prst="rect">
            <a:avLst/>
          </a:prstGeom>
          <a:solidFill>
            <a:srgbClr val="F2F3F4"/>
          </a:solidFill>
          <a:ln w="9525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>
            <a:endCxn id="33" idx="7"/>
          </p:cNvCxnSpPr>
          <p:nvPr/>
        </p:nvCxnSpPr>
        <p:spPr>
          <a:xfrm>
            <a:off x="5588000" y="4226560"/>
            <a:ext cx="1198880" cy="0"/>
          </a:xfrm>
          <a:prstGeom prst="line">
            <a:avLst/>
          </a:prstGeom>
          <a:ln w="9525">
            <a:solidFill>
              <a:srgbClr val="D5DB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6807200" y="4836160"/>
            <a:ext cx="4876800" cy="548640"/>
          </a:xfrm>
          <a:prstGeom prst="rect">
            <a:avLst/>
          </a:prstGeom>
          <a:solidFill>
            <a:srgbClr val="F2F3F4"/>
          </a:solidFill>
          <a:ln w="9525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>
            <a:stCxn id="22" idx="3"/>
            <a:endCxn id="35" idx="7"/>
          </p:cNvCxnSpPr>
          <p:nvPr/>
        </p:nvCxnSpPr>
        <p:spPr>
          <a:xfrm>
            <a:off x="5486400" y="5080000"/>
            <a:ext cx="1300480" cy="0"/>
          </a:xfrm>
          <a:prstGeom prst="line">
            <a:avLst/>
          </a:prstGeom>
          <a:ln w="9525">
            <a:solidFill>
              <a:srgbClr val="D5DB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6807200" y="5689600"/>
            <a:ext cx="4876800" cy="426720"/>
          </a:xfrm>
          <a:prstGeom prst="rect">
            <a:avLst/>
          </a:prstGeom>
          <a:solidFill>
            <a:srgbClr val="F2F3F4"/>
          </a:solidFill>
          <a:ln w="9525">
            <a:solidFill>
              <a:srgbClr val="1E8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>
            <a:endCxn id="37" idx="7"/>
          </p:cNvCxnSpPr>
          <p:nvPr/>
        </p:nvCxnSpPr>
        <p:spPr>
          <a:xfrm>
            <a:off x="5283200" y="5892800"/>
            <a:ext cx="1503680" cy="0"/>
          </a:xfrm>
          <a:prstGeom prst="line">
            <a:avLst/>
          </a:prstGeom>
          <a:ln w="9525">
            <a:solidFill>
              <a:srgbClr val="D5DB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0" y="6583680"/>
            <a:ext cx="12192000" cy="0"/>
          </a:xfrm>
          <a:prstGeom prst="line">
            <a:avLst/>
          </a:prstGeom>
          <a:ln w="9525">
            <a:solidFill>
              <a:srgbClr val="D5DB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09600" y="187960"/>
            <a:ext cx="7798816" cy="29057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2200" b="1">
                <a:solidFill>
                  <a:srgbClr val="1F618D"/>
                </a:solidFill>
                <a:latin typeface="Helvetica"/>
              </a:rPr>
              <a:t>Fig. 2  —  Model Development and Evaluation Protocol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46196" y="556260"/>
            <a:ext cx="1842008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100" i="1">
                <a:solidFill>
                  <a:srgbClr val="7F8C8D"/>
                </a:solidFill>
                <a:latin typeface="Helvetica"/>
              </a:rPr>
              <a:t>Model Development Flow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99298" y="556260"/>
            <a:ext cx="2495804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100" i="1">
                <a:solidFill>
                  <a:srgbClr val="7F8C8D"/>
                </a:solidFill>
                <a:latin typeface="Helvetica"/>
              </a:rPr>
              <a:t>Evaluation Criteria and Results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930650" y="784860"/>
            <a:ext cx="673100" cy="17170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Helvetica"/>
              </a:rPr>
              <a:t>START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72612" y="1506220"/>
            <a:ext cx="1789176" cy="17170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300">
                <a:solidFill>
                  <a:srgbClr val="2C3E50"/>
                </a:solidFill>
                <a:latin typeface="Helvetica"/>
              </a:rPr>
              <a:t>Data Preparation &amp;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29686" y="1678940"/>
            <a:ext cx="1875028" cy="17170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300">
                <a:solidFill>
                  <a:srgbClr val="2C3E50"/>
                </a:solidFill>
                <a:latin typeface="Helvetica"/>
              </a:rPr>
              <a:t>Model Configuration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86760" y="2359660"/>
            <a:ext cx="1960880" cy="17170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300">
                <a:solidFill>
                  <a:srgbClr val="2C3E50"/>
                </a:solidFill>
                <a:latin typeface="Helvetica"/>
              </a:rPr>
              <a:t>Fine-Tune ZH-BERT-FT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72130" y="2532380"/>
            <a:ext cx="2390140" cy="17170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300">
                <a:solidFill>
                  <a:srgbClr val="2C3E50"/>
                </a:solidFill>
                <a:latin typeface="Helvetica"/>
              </a:rPr>
              <a:t>(per-prompt, epochs = 10)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71672" y="3291840"/>
            <a:ext cx="1591056" cy="1584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200">
                <a:solidFill>
                  <a:srgbClr val="2C3E50"/>
                </a:solidFill>
                <a:latin typeface="Helvetica"/>
              </a:rPr>
              <a:t>zh-TW QWK ≥ 0.80?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89120" y="3726180"/>
            <a:ext cx="461772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100">
                <a:solidFill>
                  <a:srgbClr val="1E8449"/>
                </a:solidFill>
                <a:latin typeface="Helvetica"/>
              </a:rPr>
              <a:t>Yes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315720" y="2870200"/>
            <a:ext cx="375920" cy="1320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000">
                <a:solidFill>
                  <a:srgbClr val="C0392B"/>
                </a:solidFill>
                <a:latin typeface="Helvetica"/>
              </a:rPr>
              <a:t>No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50620" y="3012440"/>
            <a:ext cx="706120" cy="1320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000">
                <a:solidFill>
                  <a:srgbClr val="C0392B"/>
                </a:solidFill>
                <a:latin typeface="Helvetica"/>
              </a:rPr>
              <a:t>(adjust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2500" y="3154680"/>
            <a:ext cx="1102360" cy="1320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000">
                <a:solidFill>
                  <a:srgbClr val="C0392B"/>
                </a:solidFill>
                <a:latin typeface="Helvetica"/>
              </a:rPr>
              <a:t>hyper-params)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90544" y="4175760"/>
            <a:ext cx="1353312" cy="1584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200">
                <a:solidFill>
                  <a:srgbClr val="2C3E50"/>
                </a:solidFill>
                <a:latin typeface="Helvetica"/>
              </a:rPr>
              <a:t>DIF flags = 0?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89120" y="4610100"/>
            <a:ext cx="461772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100">
                <a:solidFill>
                  <a:srgbClr val="1E8449"/>
                </a:solidFill>
                <a:latin typeface="Helvetica"/>
              </a:rPr>
              <a:t>Yes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61760" y="3175000"/>
            <a:ext cx="375920" cy="1320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000">
                <a:solidFill>
                  <a:srgbClr val="C0392B"/>
                </a:solidFill>
                <a:latin typeface="Helvetica"/>
              </a:rPr>
              <a:t>No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61760" y="3317240"/>
            <a:ext cx="904240" cy="1320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000">
                <a:solidFill>
                  <a:srgbClr val="C0392B"/>
                </a:solidFill>
                <a:latin typeface="Helvetica"/>
              </a:rPr>
              <a:t>(augment /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61760" y="3459480"/>
            <a:ext cx="904240" cy="1320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000">
                <a:solidFill>
                  <a:srgbClr val="C0392B"/>
                </a:solidFill>
                <a:latin typeface="Helvetica"/>
              </a:rPr>
              <a:t>re-design)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115056" y="4940300"/>
            <a:ext cx="2304288" cy="17170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300">
                <a:solidFill>
                  <a:srgbClr val="2C3E50"/>
                </a:solidFill>
                <a:latin typeface="Helvetica"/>
              </a:rPr>
              <a:t>Full Test-Set Evaluation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372612" y="5113020"/>
            <a:ext cx="1789176" cy="17170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300">
                <a:solidFill>
                  <a:srgbClr val="2C3E50"/>
                </a:solidFill>
                <a:latin typeface="Helvetica"/>
              </a:rPr>
              <a:t>(QWK + DIF report)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544316" y="5742940"/>
            <a:ext cx="1445768" cy="17170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Helvetica"/>
              </a:rPr>
              <a:t>Model Accepted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6772" y="5920740"/>
            <a:ext cx="1260856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100">
                <a:solidFill>
                  <a:srgbClr val="DCFCE7"/>
                </a:solidFill>
                <a:latin typeface="Helvetica"/>
              </a:rPr>
              <a:t>for Deployment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29120" y="718820"/>
            <a:ext cx="2786380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100">
                <a:solidFill>
                  <a:srgbClr val="2C3E50"/>
                </a:solidFill>
                <a:latin typeface="Helvetica"/>
              </a:rPr>
              <a:t>Input: zh-TW student essays (P1–P4)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929120" y="891540"/>
            <a:ext cx="3585464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100" i="1">
                <a:solidFill>
                  <a:srgbClr val="7F8C8D"/>
                </a:solidFill>
                <a:latin typeface="Helvetica"/>
              </a:rPr>
              <a:t>Annotated scores: integer range 0–3 per prompt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929120" y="1501140"/>
            <a:ext cx="3367532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100">
                <a:solidFill>
                  <a:srgbClr val="2C3E50"/>
                </a:solidFill>
                <a:latin typeface="Helvetica"/>
              </a:rPr>
              <a:t>Split: 60/20/20 train/val/test (per prompt)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29120" y="1663700"/>
            <a:ext cx="3948684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100">
                <a:solidFill>
                  <a:srgbClr val="2C3E50"/>
                </a:solidFill>
                <a:latin typeface="Helvetica"/>
              </a:rPr>
              <a:t>Model: bert-base-chinese · LR = 2×10⁻⁵ · batch = 16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29120" y="1805940"/>
            <a:ext cx="2713736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100" i="1">
                <a:solidFill>
                  <a:srgbClr val="7F8C8D"/>
                </a:solidFill>
                <a:latin typeface="Helvetica"/>
              </a:rPr>
              <a:t>Rubric-prefix conditioning applied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929120" y="2354580"/>
            <a:ext cx="3222244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100">
                <a:solidFill>
                  <a:srgbClr val="2C3E50"/>
                </a:solidFill>
                <a:latin typeface="Helvetica"/>
              </a:rPr>
              <a:t>Separate model trained per prompt (P1–P8)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929120" y="2517140"/>
            <a:ext cx="3730752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100">
                <a:solidFill>
                  <a:srgbClr val="2C3E50"/>
                </a:solidFill>
                <a:latin typeface="Helvetica"/>
              </a:rPr>
              <a:t>QWK loss · soft-label regression · max-seq = 256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929120" y="2659380"/>
            <a:ext cx="3149600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100" i="1">
                <a:solidFill>
                  <a:srgbClr val="7F8C8D"/>
                </a:solidFill>
                <a:latin typeface="Helvetica"/>
              </a:rPr>
              <a:t>Early stopping on validation QWK plateau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29120" y="3197860"/>
            <a:ext cx="3876040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100">
                <a:solidFill>
                  <a:srgbClr val="2C3E50"/>
                </a:solidFill>
                <a:latin typeface="Helvetica"/>
              </a:rPr>
              <a:t>Threshold: QWK ≥ 0.80 (publication-grade for ESAS)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929120" y="3360420"/>
            <a:ext cx="3149600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100">
                <a:solidFill>
                  <a:srgbClr val="1E8449"/>
                </a:solidFill>
                <a:latin typeface="Helvetica"/>
              </a:rPr>
              <a:t>Final result: zh-TW QWK = 0.811 ≥ 0.80 ✓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929120" y="3502660"/>
            <a:ext cx="2859024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100" i="1">
                <a:solidFill>
                  <a:srgbClr val="7F8C8D"/>
                </a:solidFill>
                <a:latin typeface="Helvetica"/>
              </a:rPr>
              <a:t>Evaluated on held-out test set (20%)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29120" y="4061460"/>
            <a:ext cx="3149600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100">
                <a:solidFill>
                  <a:srgbClr val="2C3E50"/>
                </a:solidFill>
                <a:latin typeface="Helvetica"/>
              </a:rPr>
              <a:t>Mantel-Haenszel test · p &lt; .05 threshold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929120" y="4224020"/>
            <a:ext cx="3222244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100">
                <a:solidFill>
                  <a:srgbClr val="2C3E50"/>
                </a:solidFill>
                <a:latin typeface="Helvetica"/>
              </a:rPr>
              <a:t>12 score levels · EN vs. zh-TW comparison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29120" y="4366260"/>
            <a:ext cx="2423160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100">
                <a:solidFill>
                  <a:srgbClr val="1E8449"/>
                </a:solidFill>
                <a:latin typeface="Helvetica"/>
              </a:rPr>
              <a:t>Final result: 0/12 DIF flags ✓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929120" y="4935220"/>
            <a:ext cx="2931668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100">
                <a:solidFill>
                  <a:srgbClr val="2C3E50"/>
                </a:solidFill>
                <a:latin typeface="Helvetica"/>
              </a:rPr>
              <a:t>Final: zh-TW QWK = 0.811 · EN = 0.828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929120" y="5097780"/>
            <a:ext cx="2786380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100">
                <a:solidFill>
                  <a:srgbClr val="2C3E50"/>
                </a:solidFill>
                <a:latin typeface="Helvetica"/>
              </a:rPr>
              <a:t>EN↔zh-TW gap = −0.017 (noise level)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929120" y="5240020"/>
            <a:ext cx="3149600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100">
                <a:solidFill>
                  <a:srgbClr val="1E8449"/>
                </a:solidFill>
                <a:latin typeface="Helvetica"/>
              </a:rPr>
              <a:t>0/12 DIF flags  ·  Annotation κ = 0.84 ✓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929120" y="5788660"/>
            <a:ext cx="3440176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100">
                <a:solidFill>
                  <a:srgbClr val="1E8449"/>
                </a:solidFill>
                <a:latin typeface="Helvetica"/>
              </a:rPr>
              <a:t>ZH-BERT-FT: selected as production candidate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929120" y="5961380"/>
            <a:ext cx="3440176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100" i="1">
                <a:solidFill>
                  <a:srgbClr val="7F8C8D"/>
                </a:solidFill>
                <a:latin typeface="Helvetica"/>
              </a:rPr>
              <a:t>P5–P8 annotation ongoing (budget constraint)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09600" y="6324600"/>
            <a:ext cx="11008360" cy="1320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000" i="1">
                <a:solidFill>
                  <a:srgbClr val="7F8C8D"/>
                </a:solidFill>
                <a:latin typeface="Helvetica"/>
              </a:rPr>
              <a:t>Note.  Dashed lines connect each node to its decision criteria (right column).  Loop-back iterations adjust training hyperparameters or data augmentation strategy.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049014" y="6631940"/>
            <a:ext cx="4093972" cy="14528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100">
                <a:solidFill>
                  <a:srgbClr val="7F8C8D"/>
                </a:solidFill>
                <a:latin typeface="Helvetica"/>
              </a:rPr>
              <a:t>Cross-Lingual ESAS  ·  Weekly Progress  ·  2026-05-25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