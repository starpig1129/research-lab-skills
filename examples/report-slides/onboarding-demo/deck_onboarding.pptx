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7040"/>
            <a:ext cx="12192000" cy="60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828800"/>
            <a:ext cx="40640" cy="2844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8000" y="3098800"/>
            <a:ext cx="6096000" cy="2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76320" y="3962400"/>
            <a:ext cx="1625600" cy="36576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23840" y="3962400"/>
            <a:ext cx="1544320" cy="36576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90080" y="3962400"/>
            <a:ext cx="1625600" cy="36576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5992" y="2164080"/>
            <a:ext cx="9780016" cy="10038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7600" b="1">
                <a:solidFill>
                  <a:srgbClr val="1E3A5F"/>
                </a:solidFill>
              </a:rPr>
              <a:t>research-lab-skills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0740" y="3408680"/>
            <a:ext cx="7970520" cy="3434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2600">
                <a:solidFill>
                  <a:srgbClr val="374151"/>
                </a:solidFill>
              </a:rPr>
              <a:t>Structured Experiment Logging for Researchers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2840" y="4081780"/>
            <a:ext cx="1432560" cy="198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500">
                <a:solidFill>
                  <a:srgbClr val="64748B"/>
                </a:solidFill>
              </a:rPr>
              <a:t>research-log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0190" y="4081780"/>
            <a:ext cx="1531620" cy="198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500">
                <a:solidFill>
                  <a:srgbClr val="64748B"/>
                </a:solidFill>
              </a:rPr>
              <a:t>report-slides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5660" y="4081780"/>
            <a:ext cx="1234440" cy="198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500">
                <a:solidFill>
                  <a:srgbClr val="64748B"/>
                </a:solidFill>
              </a:rPr>
              <a:t>svg → pptx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4948" y="4739640"/>
            <a:ext cx="4642104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</a:rPr>
              <a:t>Onboarding Demo · v1.0.0 · 2026-06-12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0448" y="6555740"/>
            <a:ext cx="2991104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300">
                <a:solidFill>
                  <a:srgbClr val="64748B"/>
                </a:solidFill>
              </a:rPr>
              <a:t>research-lab-skills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833120"/>
            <a:ext cx="10972800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066800"/>
            <a:ext cx="5080000" cy="5181600"/>
          </a:xfrm>
          <a:prstGeom prst="rect">
            <a:avLst/>
          </a:prstGeom>
          <a:solidFill>
            <a:srgbClr val="FFF8F8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605280"/>
            <a:ext cx="4673600" cy="1016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02400" y="1066800"/>
            <a:ext cx="5080000" cy="5181600"/>
          </a:xfrm>
          <a:prstGeom prst="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05600" y="1605280"/>
            <a:ext cx="4673600" cy="1016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67360"/>
            <a:ext cx="6583680" cy="4226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</a:rPr>
              <a:t>The Problem — and 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1351280"/>
            <a:ext cx="2489200" cy="2641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2000" b="1">
                <a:solidFill>
                  <a:srgbClr val="DC2626"/>
                </a:solidFill>
              </a:rPr>
              <a:t>Without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1910080"/>
            <a:ext cx="5104384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✗  Scattered notes in random files and folders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2296160"/>
            <a:ext cx="5104384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✗  No link between experiments and git commits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2682240"/>
            <a:ext cx="4576064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✗  Can't recall what changed between runs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3068320"/>
            <a:ext cx="4364736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✗  Hard to share progress with advisors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3454400"/>
            <a:ext cx="4998720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✗  Rebuilding context from scratch every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3840480"/>
            <a:ext cx="4259072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✗  No way to generate slides from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" y="4226560"/>
            <a:ext cx="4259072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✗  Insights lost when teammates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5520" y="1351280"/>
            <a:ext cx="3413760" cy="2641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2000" b="1">
                <a:solidFill>
                  <a:srgbClr val="059669"/>
                </a:solidFill>
              </a:rPr>
              <a:t>With research-lab-skills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8800" y="1910080"/>
            <a:ext cx="4998720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✓  One command creates a structured .md entry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8800" y="2296160"/>
            <a:ext cx="4893056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✓  Git HEAD auto-captured at every log write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8800" y="2682240"/>
            <a:ext cx="4893056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✓  Experiment chain via follows: frontmatter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800" y="3068320"/>
            <a:ext cx="5315712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✓  INDEX.md rebuilt automatically — always fresh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8800" y="3454400"/>
            <a:ext cx="5104384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✓  /report-slides turns logs into a slide 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8800" y="3840480"/>
            <a:ext cx="4681728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✓  PPTX export with native editable shapes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8800" y="4226560"/>
            <a:ext cx="5315712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✓  Works in Claude Code, Copilot CLI, Gemini CLI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53608" y="3535680"/>
            <a:ext cx="481584" cy="4754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360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0448" y="6555740"/>
            <a:ext cx="2991104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300">
                <a:solidFill>
                  <a:srgbClr val="64748B"/>
                </a:solidFill>
              </a:rPr>
              <a:t>research-lab-skills · 2026-06-12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833120"/>
            <a:ext cx="10972800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168400"/>
            <a:ext cx="3149600" cy="4064000"/>
          </a:xfrm>
          <a:prstGeom prst="rect">
            <a:avLst/>
          </a:prstGeom>
          <a:solidFill>
            <a:srgbClr val="F8FAFC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40560" y="1330960"/>
            <a:ext cx="487680" cy="4876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" y="2255520"/>
            <a:ext cx="2743200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2800" y="2367280"/>
            <a:ext cx="2743200" cy="447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20800" y="4826000"/>
            <a:ext cx="1727200" cy="284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>
            <a:stCxn id="5" idx="3"/>
            <a:endCxn id="11" idx="7"/>
          </p:cNvCxnSpPr>
          <p:nvPr/>
        </p:nvCxnSpPr>
        <p:spPr>
          <a:xfrm>
            <a:off x="3810000" y="3200400"/>
            <a:ext cx="609600" cy="0"/>
          </a:xfrm>
          <a:prstGeom prst="line">
            <a:avLst/>
          </a:prstGeom>
          <a:ln w="317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21200" y="1168400"/>
            <a:ext cx="3149600" cy="4064000"/>
          </a:xfrm>
          <a:prstGeom prst="rect">
            <a:avLst/>
          </a:prstGeom>
          <a:solidFill>
            <a:srgbClr val="F8FAFC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60" y="1330960"/>
            <a:ext cx="487680" cy="4876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24400" y="2255520"/>
            <a:ext cx="2743200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24400" y="2367280"/>
            <a:ext cx="27432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81600" y="4826000"/>
            <a:ext cx="1828800" cy="284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>
            <a:stCxn id="11" idx="3"/>
            <a:endCxn id="17" idx="7"/>
          </p:cNvCxnSpPr>
          <p:nvPr/>
        </p:nvCxnSpPr>
        <p:spPr>
          <a:xfrm>
            <a:off x="7721600" y="3200400"/>
            <a:ext cx="609600" cy="0"/>
          </a:xfrm>
          <a:prstGeom prst="line">
            <a:avLst/>
          </a:prstGeom>
          <a:ln w="317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432800" y="1168400"/>
            <a:ext cx="3149600" cy="4064000"/>
          </a:xfrm>
          <a:prstGeom prst="rect">
            <a:avLst/>
          </a:prstGeom>
          <a:solidFill>
            <a:srgbClr val="F8FAFC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63760" y="1330960"/>
            <a:ext cx="487680" cy="4876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36000" y="2255520"/>
            <a:ext cx="2743200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36000" y="2367280"/>
            <a:ext cx="2743200" cy="447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3200" y="4826000"/>
            <a:ext cx="1828800" cy="284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467360"/>
            <a:ext cx="4893056" cy="4226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</a:rPr>
              <a:t>How It Works — 3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6440" y="1493520"/>
            <a:ext cx="375920" cy="2641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934" y="1988820"/>
            <a:ext cx="2376932" cy="25095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900" b="1">
                <a:solidFill>
                  <a:srgbClr val="1E3A5F"/>
                </a:solidFill>
              </a:rPr>
              <a:t>/research-log add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6604" y="2534920"/>
            <a:ext cx="1815592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>
                <a:solidFill>
                  <a:srgbClr val="1E3A5F"/>
                </a:solidFill>
                <a:latin typeface="monospace"/>
              </a:rPr>
              <a:t>/research-log add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324" y="3042920"/>
            <a:ext cx="2740152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>
                <a:solidFill>
                  <a:srgbClr val="374151"/>
                </a:solidFill>
              </a:rPr>
              <a:t>Claude asks: Quick or Full?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868" y="3296920"/>
            <a:ext cx="2925064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>
                <a:solidFill>
                  <a:srgbClr val="374151"/>
                </a:solidFill>
              </a:rPr>
              <a:t>Fills in goal, results, notes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464" y="3550920"/>
            <a:ext cx="2277872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>
                <a:solidFill>
                  <a:srgbClr val="374151"/>
                </a:solidFill>
              </a:rPr>
              <a:t>Reads git log silently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008" y="3804920"/>
            <a:ext cx="2462784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>
                <a:solidFill>
                  <a:srgbClr val="374151"/>
                </a:solidFill>
              </a:rPr>
              <a:t>Captures HEAD commit SHA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780" y="4058920"/>
            <a:ext cx="2555240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>
                <a:solidFill>
                  <a:srgbClr val="374151"/>
                </a:solidFill>
              </a:rPr>
              <a:t>Links to prior experiment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9812" y="4919980"/>
            <a:ext cx="1789176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300">
                <a:solidFill>
                  <a:srgbClr val="1E3A5F"/>
                </a:solidFill>
              </a:rPr>
              <a:t>Interactive + Auto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8040" y="1493520"/>
            <a:ext cx="375920" cy="2641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3844" y="1988820"/>
            <a:ext cx="3004312" cy="25095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900" b="1">
                <a:solidFill>
                  <a:srgbClr val="1E3A5F"/>
                </a:solidFill>
              </a:rPr>
              <a:t>Structured .md Created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60848" y="2489200"/>
            <a:ext cx="1670304" cy="1584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200">
                <a:solidFill>
                  <a:srgbClr val="374151"/>
                </a:solidFill>
                <a:latin typeface="monospace"/>
              </a:rPr>
              <a:t>docs/research_log/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0848" y="2672080"/>
            <a:ext cx="1670304" cy="1584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200">
                <a:solidFill>
                  <a:srgbClr val="059669"/>
                </a:solidFill>
                <a:latin typeface="monospace"/>
              </a:rPr>
              <a:t>2026-06-12_demo.md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6606" y="2882900"/>
            <a:ext cx="1478788" cy="1452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100">
                <a:solidFill>
                  <a:srgbClr val="64748B"/>
                </a:solidFill>
                <a:latin typeface="monospace"/>
              </a:rPr>
              <a:t>git_head: a417f35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47640" y="3065780"/>
            <a:ext cx="1696720" cy="1452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100">
                <a:solidFill>
                  <a:srgbClr val="64748B"/>
                </a:solidFill>
                <a:latin typeface="monospace"/>
              </a:rPr>
              <a:t>follows: baseline_v1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25924" y="3398520"/>
            <a:ext cx="2740152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>
                <a:solidFill>
                  <a:srgbClr val="374151"/>
                </a:solidFill>
              </a:rPr>
              <a:t>YAML frontmatter + sections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18380" y="3652520"/>
            <a:ext cx="2555240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>
                <a:solidFill>
                  <a:srgbClr val="374151"/>
                </a:solidFill>
              </a:rPr>
              <a:t>Git context auto-embedded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2152" y="3906520"/>
            <a:ext cx="2647696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>
                <a:solidFill>
                  <a:srgbClr val="374151"/>
                </a:solidFill>
              </a:rPr>
              <a:t>INDEX.md rebuilt instantly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58486" y="4919980"/>
            <a:ext cx="1875028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300">
                <a:solidFill>
                  <a:srgbClr val="1E3A5F"/>
                </a:solidFill>
              </a:rPr>
              <a:t>Durable + Queryable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19640" y="1493520"/>
            <a:ext cx="375920" cy="2641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7348" y="1988820"/>
            <a:ext cx="2000504" cy="25095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900" b="1">
                <a:solidFill>
                  <a:srgbClr val="059669"/>
                </a:solidFill>
              </a:rPr>
              <a:t>/report-slides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8488" y="2534920"/>
            <a:ext cx="1538224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>
                <a:solidFill>
                  <a:srgbClr val="059669"/>
                </a:solidFill>
                <a:latin typeface="monospace"/>
              </a:rPr>
              <a:t>/report-slides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1296" y="3042920"/>
            <a:ext cx="2832608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>
                <a:solidFill>
                  <a:srgbClr val="374151"/>
                </a:solidFill>
              </a:rPr>
              <a:t>Claude reads all log entries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6208" y="3296920"/>
            <a:ext cx="2462784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>
                <a:solidFill>
                  <a:srgbClr val="374151"/>
                </a:solidFill>
              </a:rPr>
              <a:t>Proposes a slide outline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3576" y="3550920"/>
            <a:ext cx="1908048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>
                <a:solidFill>
                  <a:srgbClr val="374151"/>
                </a:solidFill>
              </a:rPr>
              <a:t>Generates SVG deck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8664" y="3804920"/>
            <a:ext cx="2277872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>
                <a:solidFill>
                  <a:srgbClr val="374151"/>
                </a:solidFill>
              </a:rPr>
              <a:t>Exports editable .pptx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5068" y="4058920"/>
            <a:ext cx="2925064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>
                <a:solidFill>
                  <a:srgbClr val="374151"/>
                </a:solidFill>
              </a:rPr>
              <a:t>Updates log slide_decks field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27160" y="4919980"/>
            <a:ext cx="1960880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300">
                <a:solidFill>
                  <a:srgbClr val="059669"/>
                </a:solidFill>
              </a:rPr>
              <a:t>Shareable in minutes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00448" y="6555740"/>
            <a:ext cx="2991104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300">
                <a:solidFill>
                  <a:srgbClr val="64748B"/>
                </a:solidFill>
              </a:rPr>
              <a:t>research-lab-skills · 2026-06-12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792480"/>
            <a:ext cx="10972800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1680" y="1229360"/>
            <a:ext cx="142240" cy="1422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1680" y="1920240"/>
            <a:ext cx="142240" cy="1422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1680" y="2611120"/>
            <a:ext cx="142240" cy="1422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1680" y="3302000"/>
            <a:ext cx="142240" cy="1422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1680" y="3992880"/>
            <a:ext cx="142240" cy="1422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892800" y="914400"/>
            <a:ext cx="0" cy="518160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197600" y="1219200"/>
            <a:ext cx="5486400" cy="436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80480" y="3312160"/>
            <a:ext cx="5080000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26720"/>
            <a:ext cx="7006336" cy="4226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</a:rPr>
              <a:t>What Gets Captured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640" y="1102360"/>
            <a:ext cx="2502408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Git HEAD commit SHA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640" y="1369060"/>
            <a:ext cx="4998720" cy="198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>
                <a:solidFill>
                  <a:srgbClr val="374151"/>
                </a:solidFill>
              </a:rPr>
              <a:t>Every entry is tied to an exact point in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1793240"/>
            <a:ext cx="2145792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YAML frontmatter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640" y="2059940"/>
            <a:ext cx="4701540" cy="198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>
                <a:solidFill>
                  <a:srgbClr val="374151"/>
                </a:solidFill>
              </a:rPr>
              <a:t>date, tags, mode, experiment chain (follows:)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640" y="2484120"/>
            <a:ext cx="2502408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Structured sections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640" y="2750820"/>
            <a:ext cx="5791200" cy="198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>
                <a:solidFill>
                  <a:srgbClr val="374151"/>
                </a:solidFill>
              </a:rPr>
              <a:t>Goal · Changes · Setup · Results · Analysis · 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640" y="3175000"/>
            <a:ext cx="2740152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1">
                <a:solidFill>
                  <a:srgbClr val="059669"/>
                </a:solidFill>
              </a:rPr>
              <a:t>Auto-rebuilt INDEX.md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640" y="3441700"/>
            <a:ext cx="6385560" cy="198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>
                <a:solidFill>
                  <a:srgbClr val="374151"/>
                </a:solidFill>
              </a:rPr>
              <a:t>Always-fresh table of all experiments after every add or amend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640" y="3865880"/>
            <a:ext cx="2264664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1">
                <a:solidFill>
                  <a:srgbClr val="059669"/>
                </a:solidFill>
              </a:rPr>
              <a:t>slide_decks field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640" y="4132580"/>
            <a:ext cx="6088380" cy="198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>
                <a:solidFill>
                  <a:srgbClr val="374151"/>
                </a:solidFill>
              </a:rPr>
              <a:t>Automatically linked when /report-slides runs on this entry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7600" y="1003300"/>
            <a:ext cx="3611880" cy="198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>
                <a:solidFill>
                  <a:srgbClr val="64748B"/>
                </a:solidFill>
              </a:rPr>
              <a:t>Example entry — 2026-06-12_demo.md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1120" y="1445260"/>
            <a:ext cx="501396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>
                <a:solidFill>
                  <a:srgbClr val="64748B"/>
                </a:solidFill>
                <a:latin typeface="Courier"/>
              </a:rPr>
              <a:t>---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1120" y="1648460"/>
            <a:ext cx="1102360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>
                <a:solidFill>
                  <a:srgbClr val="374151"/>
                </a:solidFill>
                <a:latin typeface="Courier"/>
              </a:rPr>
              <a:t>date:</a:t>
            </a:r>
            <a:r>
              <a:rPr sz="1300">
                <a:solidFill>
                  <a:srgbClr val="059669"/>
                </a:solidFill>
                <a:latin typeface="Courier"/>
              </a:rPr>
              <a:t>2026-06-12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1120" y="1851660"/>
            <a:ext cx="1188212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>
                <a:solidFill>
                  <a:srgbClr val="374151"/>
                </a:solidFill>
                <a:latin typeface="Courier"/>
              </a:rPr>
              <a:t>experiment:</a:t>
            </a:r>
            <a:r>
              <a:rPr sz="1300">
                <a:solidFill>
                  <a:srgbClr val="059669"/>
                </a:solidFill>
                <a:latin typeface="Courier"/>
              </a:rPr>
              <a:t>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1120" y="2054860"/>
            <a:ext cx="673100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>
                <a:solidFill>
                  <a:srgbClr val="374151"/>
                </a:solidFill>
                <a:latin typeface="Courier"/>
              </a:rPr>
              <a:t>mode:</a:t>
            </a:r>
            <a:r>
              <a:rPr sz="1300">
                <a:solidFill>
                  <a:srgbClr val="059669"/>
                </a:solidFill>
                <a:latin typeface="Courier"/>
              </a:rPr>
              <a:t>exp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1120" y="2258060"/>
            <a:ext cx="1789176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>
                <a:solidFill>
                  <a:srgbClr val="374151"/>
                </a:solidFill>
                <a:latin typeface="Courier"/>
              </a:rPr>
              <a:t>tags:</a:t>
            </a:r>
            <a:r>
              <a:rPr sz="1300">
                <a:solidFill>
                  <a:srgbClr val="059669"/>
                </a:solidFill>
                <a:latin typeface="Courier"/>
              </a:rPr>
              <a:t>[demo, onboarding]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1120" y="2461260"/>
            <a:ext cx="1188212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>
                <a:solidFill>
                  <a:srgbClr val="374151"/>
                </a:solidFill>
                <a:latin typeface="Courier"/>
              </a:rPr>
              <a:t>follows:</a:t>
            </a:r>
            <a:r>
              <a:rPr sz="1300">
                <a:solidFill>
                  <a:srgbClr val="059669"/>
                </a:solidFill>
                <a:latin typeface="Courier"/>
              </a:rPr>
              <a:t>baseline_v1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1120" y="2664460"/>
            <a:ext cx="1016508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>
                <a:solidFill>
                  <a:srgbClr val="374151"/>
                </a:solidFill>
                <a:latin typeface="Courier"/>
              </a:rPr>
              <a:t>git_head:</a:t>
            </a:r>
            <a:r>
              <a:rPr sz="1300">
                <a:solidFill>
                  <a:srgbClr val="D97706"/>
                </a:solidFill>
                <a:latin typeface="Courier"/>
              </a:rPr>
              <a:t>a417f35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1120" y="2867660"/>
            <a:ext cx="1703324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>
                <a:solidFill>
                  <a:srgbClr val="374151"/>
                </a:solidFill>
                <a:latin typeface="Courier"/>
              </a:rPr>
              <a:t>slide_decks:</a:t>
            </a:r>
            <a:r>
              <a:rPr sz="1300">
                <a:solidFill>
                  <a:srgbClr val="059669"/>
                </a:solidFill>
                <a:latin typeface="Courier"/>
              </a:rPr>
              <a:t>[docs/slides/...]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1120" y="3070860"/>
            <a:ext cx="501396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>
                <a:solidFill>
                  <a:srgbClr val="64748B"/>
                </a:solidFill>
                <a:latin typeface="Courier"/>
              </a:rPr>
              <a:t>---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1120" y="3436620"/>
            <a:ext cx="844804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>
                <a:solidFill>
                  <a:srgbClr val="1E3A5F"/>
                </a:solidFill>
                <a:latin typeface="Courier"/>
              </a:rPr>
              <a:t>## Goal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1120" y="3639820"/>
            <a:ext cx="3420364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>
                <a:solidFill>
                  <a:srgbClr val="374151"/>
                </a:solidFill>
                <a:latin typeface="Courier"/>
              </a:rPr>
              <a:t>Demonstrate research-log to potential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1120" y="3822700"/>
            <a:ext cx="930656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>
                <a:solidFill>
                  <a:srgbClr val="374151"/>
                </a:solidFill>
                <a:latin typeface="Courier"/>
              </a:rPr>
              <a:t>users...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1120" y="4086860"/>
            <a:ext cx="1188212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>
                <a:solidFill>
                  <a:srgbClr val="1E3A5F"/>
                </a:solidFill>
                <a:latin typeface="Courier"/>
              </a:rPr>
              <a:t>##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1120" y="4290060"/>
            <a:ext cx="2991104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>
                <a:solidFill>
                  <a:srgbClr val="374151"/>
                </a:solidFill>
                <a:latin typeface="Courier"/>
              </a:rPr>
              <a:t>Feature working as expected. Git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1120" y="4472940"/>
            <a:ext cx="3076956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>
                <a:solidFill>
                  <a:srgbClr val="374151"/>
                </a:solidFill>
                <a:latin typeface="Courier"/>
              </a:rPr>
              <a:t>context captured automatically...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1120" y="4737100"/>
            <a:ext cx="1359916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>
                <a:solidFill>
                  <a:srgbClr val="1E3A5F"/>
                </a:solidFill>
                <a:latin typeface="Courier"/>
              </a:rPr>
              <a:t>## Next Steps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1120" y="4940300"/>
            <a:ext cx="2991104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>
                <a:solidFill>
                  <a:srgbClr val="374151"/>
                </a:solidFill>
                <a:latin typeface="Courier"/>
              </a:rPr>
              <a:t>- Run /report-slides to generate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1120" y="5123180"/>
            <a:ext cx="1875028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>
                <a:solidFill>
                  <a:srgbClr val="374151"/>
                </a:solidFill>
                <a:latin typeface="Courier"/>
              </a:rPr>
              <a:t>a presentation demo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448" y="6555740"/>
            <a:ext cx="2991104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300">
                <a:solidFill>
                  <a:srgbClr val="64748B"/>
                </a:solidFill>
              </a:rPr>
              <a:t>research-lab-skills · 2026-06-12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09300" y="6555740"/>
            <a:ext cx="673100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300">
                <a:solidFill>
                  <a:srgbClr val="64748B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99200"/>
            <a:ext cx="12192000" cy="558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99200"/>
            <a:ext cx="12192000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833120"/>
            <a:ext cx="10972800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168400"/>
            <a:ext cx="223520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>
            <a:stCxn id="7" idx="3"/>
            <a:endCxn id="9" idx="7"/>
          </p:cNvCxnSpPr>
          <p:nvPr/>
        </p:nvCxnSpPr>
        <p:spPr>
          <a:xfrm>
            <a:off x="2844800" y="1473200"/>
            <a:ext cx="508000" cy="0"/>
          </a:xfrm>
          <a:prstGeom prst="line">
            <a:avLst/>
          </a:prstGeom>
          <a:ln w="254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352800" y="1168400"/>
            <a:ext cx="2032000" cy="609600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>
            <a:stCxn id="9" idx="3"/>
            <a:endCxn id="11" idx="7"/>
          </p:cNvCxnSpPr>
          <p:nvPr/>
        </p:nvCxnSpPr>
        <p:spPr>
          <a:xfrm>
            <a:off x="5384800" y="1473200"/>
            <a:ext cx="508000" cy="0"/>
          </a:xfrm>
          <a:prstGeom prst="line">
            <a:avLst/>
          </a:prstGeom>
          <a:ln w="254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892800" y="1168400"/>
            <a:ext cx="223520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>
            <a:stCxn id="11" idx="3"/>
            <a:endCxn id="13" idx="7"/>
          </p:cNvCxnSpPr>
          <p:nvPr/>
        </p:nvCxnSpPr>
        <p:spPr>
          <a:xfrm>
            <a:off x="8128000" y="1473200"/>
            <a:ext cx="508000" cy="0"/>
          </a:xfrm>
          <a:prstGeom prst="line">
            <a:avLst/>
          </a:prstGeom>
          <a:ln w="2540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636000" y="1168400"/>
            <a:ext cx="2032000" cy="609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2133600"/>
            <a:ext cx="10972800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1840" y="2936240"/>
            <a:ext cx="121920" cy="121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1840" y="3342640"/>
            <a:ext cx="121920" cy="121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1840" y="3749040"/>
            <a:ext cx="121920" cy="121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4216400"/>
            <a:ext cx="10972800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800" y="4775200"/>
            <a:ext cx="101600" cy="10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800" y="5080000"/>
            <a:ext cx="101600" cy="10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800" y="5384800"/>
            <a:ext cx="101600" cy="10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467360"/>
            <a:ext cx="7640320" cy="4226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</a:rPr>
              <a:t>From Log to Slides — in One Command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404" y="1315720"/>
            <a:ext cx="1815592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/research-log add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296" y="1534160"/>
            <a:ext cx="1511808" cy="1584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200">
                <a:solidFill>
                  <a:srgbClr val="93C5FD"/>
                </a:solidFill>
              </a:rPr>
              <a:t>experiment entry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4776" y="1315720"/>
            <a:ext cx="1908048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>
                <a:solidFill>
                  <a:srgbClr val="1E3A5F"/>
                </a:solidFill>
              </a:rPr>
              <a:t>2026-06-12_demo.md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73272" y="1534160"/>
            <a:ext cx="1591056" cy="1584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200">
                <a:solidFill>
                  <a:srgbClr val="64748B"/>
                </a:solidFill>
              </a:rPr>
              <a:t>git_head: a417f35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1288" y="1315720"/>
            <a:ext cx="1538224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/report-slides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5248" y="1534160"/>
            <a:ext cx="1670304" cy="1584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200">
                <a:solidFill>
                  <a:srgbClr val="93C5FD"/>
                </a:solidFill>
              </a:rPr>
              <a:t>SVG deck generated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4028" y="1315720"/>
            <a:ext cx="1075944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deck.pptx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8352" y="1534160"/>
            <a:ext cx="1987296" cy="1584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200">
                <a:solidFill>
                  <a:srgbClr val="D1FAE5"/>
                </a:solidFill>
              </a:rPr>
              <a:t>native editable shapes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2438400"/>
            <a:ext cx="1960880" cy="2641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Key Takeaways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000" y="2926080"/>
            <a:ext cx="6055360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This slide deck was generated from a single log entry —</a:t>
            </a:r>
            <a:r>
              <a:rPr sz="1600">
                <a:solidFill>
                  <a:srgbClr val="374151"/>
                </a:solidFill>
              </a:rPr>
              <a:t>2026-06-12_demo.md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6000" y="3332480"/>
            <a:ext cx="2040128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Git context (HEAD</a:t>
            </a:r>
            <a:r>
              <a:rPr sz="1500">
                <a:solidFill>
                  <a:srgbClr val="374151"/>
                </a:solidFill>
                <a:latin typeface="monospace"/>
              </a:rPr>
              <a:t>a417f35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000" y="3738880"/>
            <a:ext cx="9436608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The full workflow: log → index → slides → PPTX runs entirely inside your AI coding tool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4470400"/>
            <a:ext cx="1564640" cy="2641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1">
                <a:solidFill>
                  <a:srgbClr val="059669"/>
                </a:solidFill>
              </a:rPr>
              <a:t>Try It Now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6800" y="4765040"/>
            <a:ext cx="1828800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Install:</a:t>
            </a:r>
            <a:r>
              <a:rPr sz="1500">
                <a:solidFill>
                  <a:srgbClr val="1E3A5F"/>
                </a:solidFill>
                <a:latin typeface="monospace"/>
              </a:rPr>
              <a:t>bash install.sh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6800" y="5069840"/>
            <a:ext cx="2885440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Log your next experiment:</a:t>
            </a:r>
            <a:r>
              <a:rPr sz="1500">
                <a:solidFill>
                  <a:srgbClr val="1E3A5F"/>
                </a:solidFill>
                <a:latin typeface="monospace"/>
              </a:rPr>
              <a:t>/research-log add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6800" y="5374640"/>
            <a:ext cx="2779776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>
                <a:solidFill>
                  <a:srgbClr val="374151"/>
                </a:solidFill>
              </a:rPr>
              <a:t>Generate a deck anytime:</a:t>
            </a:r>
            <a:r>
              <a:rPr sz="1500">
                <a:solidFill>
                  <a:srgbClr val="1E3A5F"/>
                </a:solidFill>
                <a:latin typeface="monospace"/>
              </a:rPr>
              <a:t>/report-slides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0448" y="6555740"/>
            <a:ext cx="2991104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300">
                <a:solidFill>
                  <a:srgbClr val="64748B"/>
                </a:solidFill>
              </a:rPr>
              <a:t>research-lab-skills · 2026-06-12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09300" y="6555740"/>
            <a:ext cx="673100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300">
                <a:solidFill>
                  <a:srgbClr val="64748B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